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I-IF-TelU/Proyek1-CGAN-ADayInAli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75488" y="320040"/>
            <a:ext cx="118872" cy="118872"/>
          </a:xfrm>
          <a:prstGeom prst="round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20040"/>
            <a:ext cx="8229600" cy="22860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55D8D7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A DAY IN ALI  /  AI GENERATIF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41248"/>
            <a:ext cx="10881360" cy="56692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Conditional GAN untuk Fashion-MNIST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10744200" cy="420624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B8C8DE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A Day in Ali  •  Presentasi Kelompok  •  29 Oktober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55080"/>
            <a:ext cx="10744200" cy="10972"/>
          </a:xfrm>
          <a:prstGeom prst="rect">
            <a:avLst/>
          </a:prstGeom>
          <a:solidFill>
            <a:srgbClr val="304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6419088"/>
            <a:ext cx="6400800" cy="21031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B8C8DE"/>
                </a:solidFill>
                <a:latin typeface="Aptos"/>
              </a:defRPr>
            </a:pPr>
            <a:r>
              <a:rPr sz="900">
                <a:solidFill>
                  <a:srgbClr val="BECCDF"/>
                </a:solidFill>
              </a:rPr>
              <a:t>TELKOM UNIVERSITY  •  PROYEK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6446520"/>
            <a:ext cx="713232" cy="228600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norm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B8C8DE"/>
                </a:solidFill>
                <a:latin typeface="Aptos"/>
              </a:defRPr>
            </a:pPr>
            <a:r>
              <a:rPr sz="900">
                <a:solidFill>
                  <a:srgbClr val="BECCDF"/>
                </a:solidFill>
              </a:rPr>
              <a:t>01 /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929384"/>
            <a:ext cx="10515600" cy="107899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Autofit/>
          </a:bodyPr>
          <a:lstStyle/>
          <a:p>
            <a:pPr>
              <a:spcAft>
                <a:spcPts val="0"/>
              </a:spcAft>
              <a:defRPr sz="3100" b="1">
                <a:solidFill>
                  <a:srgbClr val="F5F8FF"/>
                </a:solidFill>
                <a:latin typeface="Aptos"/>
              </a:defRPr>
            </a:pPr>
            <a:r>
              <a:rPr sz="4000" dirty="0">
                <a:solidFill>
                  <a:srgbClr val="F2F6FF"/>
                </a:solidFill>
              </a:rPr>
              <a:t>DARI NOISE ACAK MENJADI
GAMBAR PAKAIAN SESUAI KELAS</a:t>
            </a:r>
          </a:p>
          <a:p>
            <a:pPr>
              <a:spcAft>
                <a:spcPts val="0"/>
              </a:spcAft>
              <a:defRPr sz="3100" b="1">
                <a:solidFill>
                  <a:srgbClr val="F5F8FF"/>
                </a:solidFill>
                <a:latin typeface="Aptos"/>
              </a:defRPr>
            </a:pPr>
            <a:endParaRPr sz="4000" dirty="0">
              <a:solidFill>
                <a:srgbClr val="F2F6FF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49808" y="3337560"/>
            <a:ext cx="2487168" cy="1078992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3465576"/>
            <a:ext cx="2139696" cy="411480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norm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55D8D7"/>
                </a:solidFill>
                <a:latin typeface="Aptos"/>
              </a:defRPr>
            </a:pPr>
            <a:r>
              <a:rPr sz="2300">
                <a:solidFill>
                  <a:srgbClr val="53CFD8"/>
                </a:solidFill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95928"/>
            <a:ext cx="2139696" cy="27432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B8C8DE"/>
                </a:solidFill>
                <a:latin typeface="Aptos"/>
              </a:defRPr>
            </a:pPr>
            <a:r>
              <a:rPr sz="1400" dirty="0" err="1">
                <a:solidFill>
                  <a:srgbClr val="BECCDF"/>
                </a:solidFill>
              </a:rPr>
              <a:t>Kategori</a:t>
            </a:r>
            <a:r>
              <a:rPr sz="1400" dirty="0">
                <a:solidFill>
                  <a:srgbClr val="BECCDF"/>
                </a:solidFill>
              </a:rPr>
              <a:t> </a:t>
            </a:r>
            <a:r>
              <a:rPr sz="1400" dirty="0" err="1">
                <a:solidFill>
                  <a:srgbClr val="BECCDF"/>
                </a:solidFill>
              </a:rPr>
              <a:t>pakaian</a:t>
            </a:r>
            <a:endParaRPr sz="1400" dirty="0">
              <a:solidFill>
                <a:srgbClr val="BECCDF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493008" y="3337560"/>
            <a:ext cx="2487168" cy="1078992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75887" y="3465576"/>
            <a:ext cx="2139696" cy="411480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norm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55D8D7"/>
                </a:solidFill>
                <a:latin typeface="Aptos"/>
              </a:defRPr>
            </a:pPr>
            <a:r>
              <a:rPr sz="2300">
                <a:solidFill>
                  <a:srgbClr val="53CFD8"/>
                </a:solidFill>
              </a:rP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19" y="3995928"/>
            <a:ext cx="2139696" cy="27432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B8C8DE"/>
                </a:solidFill>
                <a:latin typeface="Aptos"/>
              </a:defRPr>
            </a:pPr>
            <a:r>
              <a:rPr sz="1400">
                <a:solidFill>
                  <a:srgbClr val="BECCDF"/>
                </a:solidFill>
              </a:rPr>
              <a:t>Epoch pelatihan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3337560"/>
            <a:ext cx="2487168" cy="1078992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9088" y="3465576"/>
            <a:ext cx="2139696" cy="41148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55D8D7"/>
                </a:solidFill>
                <a:latin typeface="Aptos"/>
              </a:defRPr>
            </a:pPr>
            <a:r>
              <a:rPr sz="2300">
                <a:solidFill>
                  <a:srgbClr val="53CFD8"/>
                </a:solidFill>
              </a:rPr>
              <a:t>0.93M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995928"/>
            <a:ext cx="2139696" cy="27432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B8C8DE"/>
                </a:solidFill>
                <a:latin typeface="Aptos"/>
              </a:defRPr>
            </a:pPr>
            <a:r>
              <a:rPr sz="1400">
                <a:solidFill>
                  <a:srgbClr val="BECCDF"/>
                </a:solidFill>
              </a:rPr>
              <a:t>Parameter model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9408" y="3337560"/>
            <a:ext cx="2487168" cy="1078992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62288" y="3465576"/>
            <a:ext cx="2139696" cy="41148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55D8D7"/>
                </a:solidFill>
                <a:latin typeface="Aptos"/>
              </a:defRPr>
            </a:pPr>
            <a:r>
              <a:rPr sz="2300">
                <a:solidFill>
                  <a:srgbClr val="53CFD8"/>
                </a:solidFill>
              </a:rPr>
              <a:t>91.70%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3995928"/>
            <a:ext cx="2139696" cy="27432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B8C8DE"/>
                </a:solidFill>
                <a:latin typeface="Aptos"/>
              </a:defRPr>
            </a:pPr>
            <a:r>
              <a:rPr sz="1400">
                <a:solidFill>
                  <a:srgbClr val="BECCDF"/>
                </a:solidFill>
              </a:rPr>
              <a:t>Akurasi kondisional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663440"/>
            <a:ext cx="10716768" cy="1353312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4782312"/>
            <a:ext cx="9144000" cy="237744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55D8D7"/>
                </a:solidFill>
                <a:latin typeface="Aptos"/>
              </a:defRPr>
            </a:pPr>
            <a:r>
              <a:rPr sz="1600" dirty="0">
                <a:solidFill>
                  <a:srgbClr val="F2F6FF"/>
                </a:solidFill>
              </a:rPr>
              <a:t>ANGGOTA KELOMPOK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5413248"/>
            <a:ext cx="2542032" cy="38404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F5F8FF"/>
                </a:solidFill>
                <a:latin typeface="Aptos"/>
              </a:defRPr>
            </a:pPr>
            <a:r>
              <a:rPr sz="1400" dirty="0">
                <a:solidFill>
                  <a:srgbClr val="F2F6FF"/>
                </a:solidFill>
              </a:rPr>
              <a:t>Moreno Cello </a:t>
            </a:r>
            <a:r>
              <a:rPr sz="1400" dirty="0" err="1">
                <a:solidFill>
                  <a:srgbClr val="F2F6FF"/>
                </a:solidFill>
              </a:rPr>
              <a:t>Rhyrhm</a:t>
            </a:r>
            <a:endParaRPr sz="1400" dirty="0">
              <a:solidFill>
                <a:srgbClr val="F2F6FF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78408" y="5632704"/>
            <a:ext cx="2377440" cy="228600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no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B8C8DE"/>
                </a:solidFill>
                <a:latin typeface="Aptos"/>
              </a:defRPr>
            </a:pPr>
            <a:r>
              <a:rPr sz="1400" dirty="0">
                <a:solidFill>
                  <a:srgbClr val="F2F6FF"/>
                </a:solidFill>
              </a:rPr>
              <a:t>103012340256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66744" y="5413248"/>
            <a:ext cx="2542032" cy="38404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F5F8FF"/>
                </a:solidFill>
                <a:latin typeface="Aptos"/>
              </a:defRPr>
            </a:pPr>
            <a:r>
              <a:rPr sz="1400">
                <a:solidFill>
                  <a:srgbClr val="F2F6FF"/>
                </a:solidFill>
              </a:rPr>
              <a:t>Maliki Kadafa Tsaqif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66744" y="5632704"/>
            <a:ext cx="2377440" cy="228600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no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B8C8DE"/>
                </a:solidFill>
                <a:latin typeface="Aptos"/>
              </a:defRPr>
            </a:pPr>
            <a:r>
              <a:rPr sz="1400">
                <a:solidFill>
                  <a:srgbClr val="F2F6FF"/>
                </a:solidFill>
              </a:rPr>
              <a:t>103012340185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5413248"/>
            <a:ext cx="2697480" cy="38404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F5F8FF"/>
                </a:solidFill>
                <a:latin typeface="Aptos"/>
              </a:defRPr>
            </a:pPr>
            <a:r>
              <a:rPr sz="1400">
                <a:solidFill>
                  <a:srgbClr val="F2F6FF"/>
                </a:solidFill>
              </a:rPr>
              <a:t>Adhyatma Chrysostomos Davu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5632704"/>
            <a:ext cx="2377440" cy="228600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no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B8C8DE"/>
                </a:solidFill>
                <a:latin typeface="Aptos"/>
              </a:defRPr>
            </a:pPr>
            <a:r>
              <a:rPr sz="1400">
                <a:solidFill>
                  <a:srgbClr val="F2F6FF"/>
                </a:solidFill>
              </a:rPr>
              <a:t>103012340479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3416" y="5413248"/>
            <a:ext cx="2542032" cy="38404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F5F8FF"/>
                </a:solidFill>
                <a:latin typeface="Aptos"/>
              </a:defRPr>
            </a:pPr>
            <a:r>
              <a:rPr sz="1400">
                <a:solidFill>
                  <a:srgbClr val="F2F6FF"/>
                </a:solidFill>
              </a:rPr>
              <a:t>Mohamed Ali Ibrahim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43416" y="5632704"/>
            <a:ext cx="2377440" cy="228600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no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B8C8DE"/>
                </a:solidFill>
                <a:latin typeface="Aptos"/>
              </a:defRPr>
            </a:pPr>
            <a:r>
              <a:rPr sz="1400" dirty="0">
                <a:solidFill>
                  <a:srgbClr val="F2F6FF"/>
                </a:solidFill>
              </a:rPr>
              <a:t>103012350550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75488" y="320040"/>
            <a:ext cx="118872" cy="118872"/>
          </a:xfrm>
          <a:prstGeom prst="round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20040"/>
            <a:ext cx="8229600" cy="22860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55D8D7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A DAY IN ALI  /  AI GENERATIF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41248"/>
            <a:ext cx="10881360" cy="56692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Masalah apa yang ingin diselesaikan?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444752"/>
            <a:ext cx="10744200" cy="420624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B8C8DE"/>
                </a:solidFill>
                <a:latin typeface="Aptos"/>
              </a:defRPr>
            </a:pPr>
            <a:r>
              <a:rPr sz="1600">
                <a:solidFill>
                  <a:srgbClr val="F2F6FF"/>
                </a:solidFill>
              </a:rPr>
              <a:t>GAN biasa menghasilkan gambar acak; cGAN memungkinkan kita menentukan kategori gambar.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55080"/>
            <a:ext cx="10744200" cy="10972"/>
          </a:xfrm>
          <a:prstGeom prst="rect">
            <a:avLst/>
          </a:prstGeom>
          <a:solidFill>
            <a:srgbClr val="304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6419088"/>
            <a:ext cx="6400800" cy="21031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B8C8DE"/>
                </a:solidFill>
                <a:latin typeface="Aptos"/>
              </a:defRPr>
            </a:pPr>
            <a:r>
              <a:rPr sz="900">
                <a:solidFill>
                  <a:srgbClr val="BECCDF"/>
                </a:solidFill>
              </a:rPr>
              <a:t>TELKOM UNIVERSITY  •  PROYEK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6446520"/>
            <a:ext cx="713232" cy="228600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norm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B8C8DE"/>
                </a:solidFill>
                <a:latin typeface="Aptos"/>
              </a:defRPr>
            </a:pPr>
            <a:r>
              <a:rPr sz="900">
                <a:solidFill>
                  <a:srgbClr val="BECCDF"/>
                </a:solidFill>
              </a:rPr>
              <a:t>02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029968"/>
            <a:ext cx="5212080" cy="3218688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98448" y="2532888"/>
            <a:ext cx="45719" cy="301752"/>
          </a:xfrm>
          <a:prstGeom prst="rect">
            <a:avLst/>
          </a:prstGeom>
          <a:solidFill>
            <a:srgbClr val="AD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35608" y="2514600"/>
            <a:ext cx="4201683" cy="39319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F2F6FF"/>
                </a:solidFill>
              </a:rPr>
              <a:t>GAN Biasa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3081528"/>
            <a:ext cx="4259580" cy="2368296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B8C8DE"/>
                </a:solidFill>
                <a:latin typeface="Aptos"/>
              </a:defRPr>
            </a:pPr>
            <a:r>
              <a:rPr sz="1600" dirty="0" err="1">
                <a:solidFill>
                  <a:srgbClr val="F2F6FF"/>
                </a:solidFill>
              </a:rPr>
              <a:t>Masukan</a:t>
            </a:r>
            <a:r>
              <a:rPr sz="1600" dirty="0">
                <a:solidFill>
                  <a:srgbClr val="F2F6FF"/>
                </a:solidFill>
              </a:rPr>
              <a:t>: noise </a:t>
            </a:r>
            <a:r>
              <a:rPr sz="1600" dirty="0" err="1">
                <a:solidFill>
                  <a:srgbClr val="F2F6FF"/>
                </a:solidFill>
              </a:rPr>
              <a:t>acak</a:t>
            </a:r>
            <a:r>
              <a:rPr sz="1600" dirty="0">
                <a:solidFill>
                  <a:srgbClr val="F2F6FF"/>
                </a:solidFill>
              </a:rPr>
              <a:t>
</a:t>
            </a:r>
            <a:r>
              <a:rPr sz="1600" dirty="0" err="1">
                <a:solidFill>
                  <a:srgbClr val="F2F6FF"/>
                </a:solidFill>
              </a:rPr>
              <a:t>Keluaran</a:t>
            </a:r>
            <a:r>
              <a:rPr sz="1600" dirty="0">
                <a:solidFill>
                  <a:srgbClr val="F2F6FF"/>
                </a:solidFill>
              </a:rPr>
              <a:t>: </a:t>
            </a:r>
            <a:r>
              <a:rPr sz="1600" dirty="0" err="1">
                <a:solidFill>
                  <a:srgbClr val="F2F6FF"/>
                </a:solidFill>
              </a:rPr>
              <a:t>gambar</a:t>
            </a:r>
            <a:r>
              <a:rPr sz="1600" dirty="0">
                <a:solidFill>
                  <a:srgbClr val="F2F6FF"/>
                </a:solidFill>
              </a:rPr>
              <a:t> </a:t>
            </a:r>
            <a:r>
              <a:rPr sz="1600" dirty="0" err="1">
                <a:solidFill>
                  <a:srgbClr val="F2F6FF"/>
                </a:solidFill>
              </a:rPr>
              <a:t>benda</a:t>
            </a:r>
            <a:r>
              <a:rPr sz="1600" dirty="0">
                <a:solidFill>
                  <a:srgbClr val="F2F6FF"/>
                </a:solidFill>
              </a:rPr>
              <a:t> </a:t>
            </a:r>
            <a:r>
              <a:rPr sz="1600" dirty="0" err="1">
                <a:solidFill>
                  <a:srgbClr val="F2F6FF"/>
                </a:solidFill>
              </a:rPr>
              <a:t>acak</a:t>
            </a:r>
            <a:r>
              <a:rPr sz="1600" dirty="0">
                <a:solidFill>
                  <a:srgbClr val="F2F6FF"/>
                </a:solidFill>
              </a:rPr>
              <a:t>
</a:t>
            </a:r>
            <a:r>
              <a:rPr sz="1600" dirty="0" err="1">
                <a:solidFill>
                  <a:srgbClr val="F2F6FF"/>
                </a:solidFill>
              </a:rPr>
              <a:t>Masalah</a:t>
            </a:r>
            <a:r>
              <a:rPr sz="1600" dirty="0">
                <a:solidFill>
                  <a:srgbClr val="F2F6FF"/>
                </a:solidFill>
              </a:rPr>
              <a:t>: </a:t>
            </a:r>
            <a:r>
              <a:rPr sz="1600" dirty="0" err="1">
                <a:solidFill>
                  <a:srgbClr val="F2F6FF"/>
                </a:solidFill>
              </a:rPr>
              <a:t>kita</a:t>
            </a:r>
            <a:r>
              <a:rPr sz="1600" dirty="0">
                <a:solidFill>
                  <a:srgbClr val="F2F6FF"/>
                </a:solidFill>
              </a:rPr>
              <a:t> </a:t>
            </a:r>
            <a:r>
              <a:rPr sz="1600" dirty="0" err="1">
                <a:solidFill>
                  <a:srgbClr val="F2F6FF"/>
                </a:solidFill>
              </a:rPr>
              <a:t>tidak</a:t>
            </a:r>
            <a:r>
              <a:rPr sz="1600" dirty="0">
                <a:solidFill>
                  <a:srgbClr val="F2F6FF"/>
                </a:solidFill>
              </a:rPr>
              <a:t> </a:t>
            </a:r>
            <a:r>
              <a:rPr sz="1600" dirty="0" err="1">
                <a:solidFill>
                  <a:srgbClr val="F2F6FF"/>
                </a:solidFill>
              </a:rPr>
              <a:t>dapat</a:t>
            </a:r>
            <a:r>
              <a:rPr sz="1600" dirty="0">
                <a:solidFill>
                  <a:srgbClr val="F2F6FF"/>
                </a:solidFill>
              </a:rPr>
              <a:t> </a:t>
            </a:r>
            <a:r>
              <a:rPr sz="1600" dirty="0" err="1">
                <a:solidFill>
                  <a:srgbClr val="F2F6FF"/>
                </a:solidFill>
              </a:rPr>
              <a:t>menentukan</a:t>
            </a:r>
            <a:r>
              <a:rPr sz="1600" dirty="0">
                <a:solidFill>
                  <a:srgbClr val="F2F6FF"/>
                </a:solidFill>
              </a:rPr>
              <a:t> </a:t>
            </a:r>
            <a:r>
              <a:rPr sz="1600" dirty="0" err="1">
                <a:solidFill>
                  <a:srgbClr val="F2F6FF"/>
                </a:solidFill>
              </a:rPr>
              <a:t>apakah</a:t>
            </a:r>
            <a:r>
              <a:rPr sz="1600" dirty="0">
                <a:solidFill>
                  <a:srgbClr val="F2F6FF"/>
                </a:solidFill>
              </a:rPr>
              <a:t> </a:t>
            </a:r>
            <a:r>
              <a:rPr sz="1600" dirty="0" err="1">
                <a:solidFill>
                  <a:srgbClr val="F2F6FF"/>
                </a:solidFill>
              </a:rPr>
              <a:t>hasilnya</a:t>
            </a:r>
            <a:r>
              <a:rPr sz="1600" dirty="0">
                <a:solidFill>
                  <a:srgbClr val="F2F6FF"/>
                </a:solidFill>
              </a:rPr>
              <a:t> baju, </a:t>
            </a:r>
            <a:r>
              <a:rPr sz="1600" dirty="0" err="1">
                <a:solidFill>
                  <a:srgbClr val="F2F6FF"/>
                </a:solidFill>
              </a:rPr>
              <a:t>sepatu</a:t>
            </a:r>
            <a:r>
              <a:rPr sz="1600" dirty="0">
                <a:solidFill>
                  <a:srgbClr val="F2F6FF"/>
                </a:solidFill>
              </a:rPr>
              <a:t>, </a:t>
            </a:r>
            <a:r>
              <a:rPr sz="1600" dirty="0" err="1">
                <a:solidFill>
                  <a:srgbClr val="F2F6FF"/>
                </a:solidFill>
              </a:rPr>
              <a:t>atau</a:t>
            </a:r>
            <a:r>
              <a:rPr sz="1600" dirty="0">
                <a:solidFill>
                  <a:srgbClr val="F2F6FF"/>
                </a:solidFill>
              </a:rPr>
              <a:t> </a:t>
            </a:r>
            <a:r>
              <a:rPr sz="1600" dirty="0" err="1">
                <a:solidFill>
                  <a:srgbClr val="F2F6FF"/>
                </a:solidFill>
              </a:rPr>
              <a:t>tas.</a:t>
            </a:r>
            <a:endParaRPr sz="1600" dirty="0">
              <a:solidFill>
                <a:srgbClr val="F2F6FF"/>
              </a:solidFill>
            </a:endParaRPr>
          </a:p>
          <a:p>
            <a:pPr>
              <a:spcAft>
                <a:spcPts val="0"/>
              </a:spcAft>
              <a:defRPr sz="1700" b="0">
                <a:solidFill>
                  <a:srgbClr val="B8C8DE"/>
                </a:solidFill>
                <a:latin typeface="Aptos"/>
              </a:defRPr>
            </a:pPr>
            <a:endParaRPr sz="1600" dirty="0">
              <a:solidFill>
                <a:srgbClr val="F2F6FF"/>
              </a:solidFill>
            </a:endParaRPr>
          </a:p>
          <a:p>
            <a:pPr>
              <a:spcAft>
                <a:spcPts val="0"/>
              </a:spcAft>
              <a:defRPr sz="1700" b="0">
                <a:solidFill>
                  <a:srgbClr val="B8C8DE"/>
                </a:solidFill>
                <a:latin typeface="Aptos"/>
              </a:defRPr>
            </a:pPr>
            <a:endParaRPr sz="1600" dirty="0">
              <a:solidFill>
                <a:srgbClr val="F2F6FF"/>
              </a:solidFill>
            </a:endParaRPr>
          </a:p>
          <a:p>
            <a:pPr>
              <a:spcAft>
                <a:spcPts val="0"/>
              </a:spcAft>
              <a:defRPr sz="1700" b="0">
                <a:solidFill>
                  <a:srgbClr val="B8C8DE"/>
                </a:solidFill>
                <a:latin typeface="Aptos"/>
              </a:defRPr>
            </a:pPr>
            <a:endParaRPr sz="1600" dirty="0">
              <a:solidFill>
                <a:srgbClr val="F2F6FF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17920" y="2029968"/>
            <a:ext cx="5230368" cy="3218688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784848" y="2532888"/>
            <a:ext cx="45719" cy="301752"/>
          </a:xfrm>
          <a:prstGeom prst="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22008" y="2514600"/>
            <a:ext cx="4218225" cy="39319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rPr sz="1600" dirty="0">
                <a:solidFill>
                  <a:srgbClr val="F2F6FF"/>
                </a:solidFill>
              </a:rPr>
              <a:t>Conditional GAN (</a:t>
            </a:r>
            <a:r>
              <a:rPr sz="1600" dirty="0" err="1">
                <a:solidFill>
                  <a:srgbClr val="F2F6FF"/>
                </a:solidFill>
              </a:rPr>
              <a:t>cGAN</a:t>
            </a:r>
            <a:r>
              <a:rPr sz="1600" dirty="0">
                <a:solidFill>
                  <a:srgbClr val="F2F6FF"/>
                </a:solidFill>
              </a:rPr>
              <a:t>) Kami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0569" y="3081528"/>
            <a:ext cx="4276122" cy="2368296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B8C8DE"/>
                </a:solidFill>
                <a:latin typeface="Aptos"/>
              </a:defRPr>
            </a:pPr>
            <a:r>
              <a:rPr sz="1600" dirty="0" err="1">
                <a:solidFill>
                  <a:srgbClr val="F2F6FF"/>
                </a:solidFill>
              </a:rPr>
              <a:t>Masukan</a:t>
            </a:r>
            <a:r>
              <a:rPr sz="1600" dirty="0">
                <a:solidFill>
                  <a:srgbClr val="F2F6FF"/>
                </a:solidFill>
              </a:rPr>
              <a:t>: noise </a:t>
            </a:r>
            <a:r>
              <a:rPr sz="1600" dirty="0" err="1">
                <a:solidFill>
                  <a:srgbClr val="F2F6FF"/>
                </a:solidFill>
              </a:rPr>
              <a:t>acak</a:t>
            </a:r>
            <a:r>
              <a:rPr sz="1600" dirty="0">
                <a:solidFill>
                  <a:srgbClr val="F2F6FF"/>
                </a:solidFill>
              </a:rPr>
              <a:t> + label </a:t>
            </a:r>
            <a:r>
              <a:rPr sz="1600" dirty="0" err="1">
                <a:solidFill>
                  <a:srgbClr val="F2F6FF"/>
                </a:solidFill>
              </a:rPr>
              <a:t>pakaian</a:t>
            </a:r>
            <a:r>
              <a:rPr sz="1600" dirty="0">
                <a:solidFill>
                  <a:srgbClr val="F2F6FF"/>
                </a:solidFill>
              </a:rPr>
              <a:t>
</a:t>
            </a:r>
            <a:r>
              <a:rPr sz="1600" dirty="0" err="1">
                <a:solidFill>
                  <a:srgbClr val="F2F6FF"/>
                </a:solidFill>
              </a:rPr>
              <a:t>Keluaran</a:t>
            </a:r>
            <a:r>
              <a:rPr sz="1600" dirty="0">
                <a:solidFill>
                  <a:srgbClr val="F2F6FF"/>
                </a:solidFill>
              </a:rPr>
              <a:t>: </a:t>
            </a:r>
            <a:r>
              <a:rPr sz="1600" dirty="0" err="1">
                <a:solidFill>
                  <a:srgbClr val="F2F6FF"/>
                </a:solidFill>
              </a:rPr>
              <a:t>gambar</a:t>
            </a:r>
            <a:r>
              <a:rPr sz="1600" dirty="0">
                <a:solidFill>
                  <a:srgbClr val="F2F6FF"/>
                </a:solidFill>
              </a:rPr>
              <a:t> </a:t>
            </a:r>
            <a:r>
              <a:rPr sz="1600" dirty="0" err="1">
                <a:solidFill>
                  <a:srgbClr val="F2F6FF"/>
                </a:solidFill>
              </a:rPr>
              <a:t>sesuai</a:t>
            </a:r>
            <a:r>
              <a:rPr sz="1600" dirty="0">
                <a:solidFill>
                  <a:srgbClr val="F2F6FF"/>
                </a:solidFill>
              </a:rPr>
              <a:t> label yang </a:t>
            </a:r>
            <a:r>
              <a:rPr sz="1600" dirty="0" err="1">
                <a:solidFill>
                  <a:srgbClr val="F2F6FF"/>
                </a:solidFill>
              </a:rPr>
              <a:t>dipilih</a:t>
            </a:r>
            <a:r>
              <a:rPr sz="1600" dirty="0">
                <a:solidFill>
                  <a:srgbClr val="F2F6FF"/>
                </a:solidFill>
              </a:rPr>
              <a:t>
</a:t>
            </a:r>
            <a:r>
              <a:rPr sz="1600" dirty="0" err="1">
                <a:solidFill>
                  <a:srgbClr val="F2F6FF"/>
                </a:solidFill>
              </a:rPr>
              <a:t>Contoh</a:t>
            </a:r>
            <a:r>
              <a:rPr sz="1600" dirty="0">
                <a:solidFill>
                  <a:srgbClr val="F2F6FF"/>
                </a:solidFill>
              </a:rPr>
              <a:t>: </a:t>
            </a:r>
            <a:r>
              <a:rPr sz="1600" dirty="0" err="1">
                <a:solidFill>
                  <a:srgbClr val="F2F6FF"/>
                </a:solidFill>
              </a:rPr>
              <a:t>pilih</a:t>
            </a:r>
            <a:r>
              <a:rPr sz="1600" dirty="0">
                <a:solidFill>
                  <a:srgbClr val="F2F6FF"/>
                </a:solidFill>
              </a:rPr>
              <a:t> “Sneaker” → model </a:t>
            </a:r>
            <a:r>
              <a:rPr sz="1600" dirty="0" err="1">
                <a:solidFill>
                  <a:srgbClr val="F2F6FF"/>
                </a:solidFill>
              </a:rPr>
              <a:t>membuat</a:t>
            </a:r>
            <a:r>
              <a:rPr sz="1600" dirty="0">
                <a:solidFill>
                  <a:srgbClr val="F2F6FF"/>
                </a:solidFill>
              </a:rPr>
              <a:t> </a:t>
            </a:r>
            <a:r>
              <a:rPr sz="1600" dirty="0" err="1">
                <a:solidFill>
                  <a:srgbClr val="F2F6FF"/>
                </a:solidFill>
              </a:rPr>
              <a:t>gambar</a:t>
            </a:r>
            <a:r>
              <a:rPr sz="1600" dirty="0">
                <a:solidFill>
                  <a:srgbClr val="F2F6FF"/>
                </a:solidFill>
              </a:rPr>
              <a:t> </a:t>
            </a:r>
            <a:r>
              <a:rPr sz="1600" dirty="0" err="1">
                <a:solidFill>
                  <a:srgbClr val="F2F6FF"/>
                </a:solidFill>
              </a:rPr>
              <a:t>sepatu</a:t>
            </a:r>
            <a:r>
              <a:rPr sz="1600" dirty="0">
                <a:solidFill>
                  <a:srgbClr val="F2F6FF"/>
                </a:solidFill>
              </a:rPr>
              <a:t> </a:t>
            </a:r>
            <a:r>
              <a:rPr sz="1600" dirty="0" err="1">
                <a:solidFill>
                  <a:srgbClr val="F2F6FF"/>
                </a:solidFill>
              </a:rPr>
              <a:t>berukuran</a:t>
            </a:r>
            <a:r>
              <a:rPr sz="1600" dirty="0">
                <a:solidFill>
                  <a:srgbClr val="F2F6FF"/>
                </a:solidFill>
              </a:rPr>
              <a:t> 28×28.</a:t>
            </a:r>
          </a:p>
          <a:p>
            <a:pPr>
              <a:spcAft>
                <a:spcPts val="0"/>
              </a:spcAft>
              <a:defRPr sz="1700" b="0">
                <a:solidFill>
                  <a:srgbClr val="B8C8DE"/>
                </a:solidFill>
                <a:latin typeface="Aptos"/>
              </a:defRPr>
            </a:pPr>
            <a:endParaRPr sz="1600" dirty="0">
              <a:solidFill>
                <a:srgbClr val="F2F6FF"/>
              </a:solidFill>
            </a:endParaRPr>
          </a:p>
          <a:p>
            <a:pPr>
              <a:spcAft>
                <a:spcPts val="0"/>
              </a:spcAft>
              <a:defRPr sz="1700" b="0">
                <a:solidFill>
                  <a:srgbClr val="B8C8DE"/>
                </a:solidFill>
                <a:latin typeface="Aptos"/>
              </a:defRPr>
            </a:pPr>
            <a:endParaRPr sz="1600" dirty="0">
              <a:solidFill>
                <a:srgbClr val="F2F6FF"/>
              </a:solidFill>
            </a:endParaRPr>
          </a:p>
          <a:p>
            <a:pPr>
              <a:spcAft>
                <a:spcPts val="0"/>
              </a:spcAft>
              <a:defRPr sz="1700" b="0">
                <a:solidFill>
                  <a:srgbClr val="B8C8DE"/>
                </a:solidFill>
                <a:latin typeface="Aptos"/>
              </a:defRPr>
            </a:pPr>
            <a:endParaRPr sz="1600" dirty="0">
              <a:solidFill>
                <a:srgbClr val="F2F6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" y="5596128"/>
            <a:ext cx="10698480" cy="420624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Tujuan: menghasilkan gambar pakaian yang mudah dikenali, sesuai kategori, dan tetap bervariasi.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75488" y="320040"/>
            <a:ext cx="118872" cy="118872"/>
          </a:xfrm>
          <a:prstGeom prst="round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20040"/>
            <a:ext cx="8229600" cy="22860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55D8D7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A DAY IN ALI  /  AI GENERATIF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41248"/>
            <a:ext cx="10881360" cy="56692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Dataset: Fashion-MNIST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10744200" cy="420624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B8C8DE"/>
                </a:solidFill>
                <a:latin typeface="Aptos"/>
              </a:defRPr>
            </a:pPr>
            <a:r>
              <a:rPr sz="1600">
                <a:solidFill>
                  <a:srgbClr val="F2F6FF"/>
                </a:solidFill>
              </a:rPr>
              <a:t>Dataset sederhana dan konsisten memudahkan pengujian cGAN berukuran kecil.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55080"/>
            <a:ext cx="10744200" cy="10972"/>
          </a:xfrm>
          <a:prstGeom prst="rect">
            <a:avLst/>
          </a:prstGeom>
          <a:solidFill>
            <a:srgbClr val="304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6419088"/>
            <a:ext cx="6400800" cy="21031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B8C8DE"/>
                </a:solidFill>
                <a:latin typeface="Aptos"/>
              </a:defRPr>
            </a:pPr>
            <a:r>
              <a:rPr sz="900">
                <a:solidFill>
                  <a:srgbClr val="BECCDF"/>
                </a:solidFill>
              </a:rPr>
              <a:t>TELKOM UNIVERSITY  •  PROYEK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6446520"/>
            <a:ext cx="713232" cy="228600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norm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B8C8DE"/>
                </a:solidFill>
                <a:latin typeface="Aptos"/>
              </a:defRPr>
            </a:pPr>
            <a:r>
              <a:rPr sz="900">
                <a:solidFill>
                  <a:srgbClr val="BECCDF"/>
                </a:solidFill>
              </a:rPr>
              <a:t>03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1993392"/>
            <a:ext cx="2487168" cy="1078992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2121408"/>
            <a:ext cx="2139696" cy="41148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55D8D7"/>
                </a:solidFill>
                <a:latin typeface="Aptos"/>
              </a:defRPr>
            </a:pPr>
            <a:r>
              <a:rPr sz="2300">
                <a:solidFill>
                  <a:srgbClr val="53CFD8"/>
                </a:solidFill>
              </a:rPr>
              <a:t>60,000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" y="2651760"/>
            <a:ext cx="2139696" cy="27432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B8C8DE"/>
                </a:solidFill>
                <a:latin typeface="Aptos"/>
              </a:defRPr>
            </a:pPr>
            <a:r>
              <a:rPr sz="1600">
                <a:solidFill>
                  <a:srgbClr val="BECCDF"/>
                </a:solidFill>
              </a:rPr>
              <a:t>Gambar latih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3008" y="1993392"/>
            <a:ext cx="2487168" cy="1078992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75887" y="2121408"/>
            <a:ext cx="2139696" cy="41148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55D8D7"/>
                </a:solidFill>
                <a:latin typeface="Aptos"/>
              </a:defRPr>
            </a:pPr>
            <a:r>
              <a:rPr sz="2300">
                <a:solidFill>
                  <a:srgbClr val="53CFD8"/>
                </a:solidFill>
              </a:rPr>
              <a:t>10,000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2651760"/>
            <a:ext cx="2139696" cy="27432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B8C8DE"/>
                </a:solidFill>
                <a:latin typeface="Aptos"/>
              </a:defRPr>
            </a:pPr>
            <a:r>
              <a:rPr sz="1600">
                <a:solidFill>
                  <a:srgbClr val="BECCDF"/>
                </a:solidFill>
              </a:rPr>
              <a:t>Gambar uji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1993392"/>
            <a:ext cx="2487168" cy="1078992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9088" y="2121408"/>
            <a:ext cx="2139696" cy="41148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55D8D7"/>
                </a:solidFill>
                <a:latin typeface="Aptos"/>
              </a:defRPr>
            </a:pPr>
            <a:r>
              <a:rPr sz="2300">
                <a:solidFill>
                  <a:srgbClr val="53CFD8"/>
                </a:solidFill>
              </a:rPr>
              <a:t>28 × 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651760"/>
            <a:ext cx="2139696" cy="27432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B8C8DE"/>
                </a:solidFill>
                <a:latin typeface="Aptos"/>
              </a:defRPr>
            </a:pPr>
            <a:r>
              <a:rPr sz="1600">
                <a:solidFill>
                  <a:srgbClr val="BECCDF"/>
                </a:solidFill>
              </a:rPr>
              <a:t>Grayscale 28×28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9408" y="1993392"/>
            <a:ext cx="2487168" cy="1078992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62288" y="2121408"/>
            <a:ext cx="2139696" cy="411480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norm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55D8D7"/>
                </a:solidFill>
                <a:latin typeface="Aptos"/>
              </a:defRPr>
            </a:pPr>
            <a:r>
              <a:rPr sz="2300">
                <a:solidFill>
                  <a:srgbClr val="53CFD8"/>
                </a:solidFill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2288" y="2651760"/>
            <a:ext cx="2139696" cy="27432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B8C8DE"/>
                </a:solidFill>
                <a:latin typeface="Aptos"/>
              </a:defRPr>
            </a:pPr>
            <a:r>
              <a:rPr sz="1600">
                <a:solidFill>
                  <a:srgbClr val="BECCDF"/>
                </a:solidFill>
              </a:rPr>
              <a:t>Kategori pakaian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3474720"/>
            <a:ext cx="6903720" cy="2139696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170432" y="3872483"/>
            <a:ext cx="50292" cy="301752"/>
          </a:xfrm>
          <a:prstGeom prst="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35024" y="3854196"/>
            <a:ext cx="6336792" cy="39319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rPr sz="1600" dirty="0" err="1">
                <a:solidFill>
                  <a:srgbClr val="F2F6FF"/>
                </a:solidFill>
              </a:rPr>
              <a:t>Persiapan</a:t>
            </a:r>
            <a:r>
              <a:rPr sz="1600" dirty="0">
                <a:solidFill>
                  <a:srgbClr val="F2F6FF"/>
                </a:solidFill>
              </a:rPr>
              <a:t>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0724" y="4421124"/>
            <a:ext cx="6170676" cy="1289303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B8C8DE"/>
                </a:solidFill>
                <a:latin typeface="Aptos"/>
              </a:defRPr>
            </a:pPr>
            <a:r>
              <a:rPr sz="1600" dirty="0">
                <a:solidFill>
                  <a:srgbClr val="F2F6FF"/>
                </a:solidFill>
              </a:rPr>
              <a:t>Nilai </a:t>
            </a:r>
            <a:r>
              <a:rPr sz="1600" dirty="0" err="1">
                <a:solidFill>
                  <a:srgbClr val="F2F6FF"/>
                </a:solidFill>
              </a:rPr>
              <a:t>piksel</a:t>
            </a:r>
            <a:r>
              <a:rPr sz="1600" dirty="0">
                <a:solidFill>
                  <a:srgbClr val="F2F6FF"/>
                </a:solidFill>
              </a:rPr>
              <a:t> </a:t>
            </a:r>
            <a:r>
              <a:rPr sz="1600" dirty="0" err="1">
                <a:solidFill>
                  <a:srgbClr val="F2F6FF"/>
                </a:solidFill>
              </a:rPr>
              <a:t>dinormalisasi</a:t>
            </a:r>
            <a:r>
              <a:rPr sz="1600" dirty="0">
                <a:solidFill>
                  <a:srgbClr val="F2F6FF"/>
                </a:solidFill>
              </a:rPr>
              <a:t> </a:t>
            </a:r>
            <a:r>
              <a:rPr sz="1600" dirty="0" err="1">
                <a:solidFill>
                  <a:srgbClr val="F2F6FF"/>
                </a:solidFill>
              </a:rPr>
              <a:t>ke</a:t>
            </a:r>
            <a:r>
              <a:rPr sz="1600" dirty="0">
                <a:solidFill>
                  <a:srgbClr val="F2F6FF"/>
                </a:solidFill>
              </a:rPr>
              <a:t> [−1, 1] agar </a:t>
            </a:r>
            <a:r>
              <a:rPr sz="1600" dirty="0" err="1">
                <a:solidFill>
                  <a:srgbClr val="F2F6FF"/>
                </a:solidFill>
              </a:rPr>
              <a:t>sesuai</a:t>
            </a:r>
            <a:r>
              <a:rPr sz="1600" dirty="0">
                <a:solidFill>
                  <a:srgbClr val="F2F6FF"/>
                </a:solidFill>
              </a:rPr>
              <a:t> </a:t>
            </a:r>
            <a:r>
              <a:rPr sz="1600" dirty="0" err="1">
                <a:solidFill>
                  <a:srgbClr val="F2F6FF"/>
                </a:solidFill>
              </a:rPr>
              <a:t>dengan</a:t>
            </a:r>
            <a:r>
              <a:rPr sz="1600" dirty="0">
                <a:solidFill>
                  <a:srgbClr val="F2F6FF"/>
                </a:solidFill>
              </a:rPr>
              <a:t> </a:t>
            </a:r>
            <a:r>
              <a:rPr sz="1600" dirty="0" err="1">
                <a:solidFill>
                  <a:srgbClr val="F2F6FF"/>
                </a:solidFill>
              </a:rPr>
              <a:t>keluaran</a:t>
            </a:r>
            <a:r>
              <a:rPr sz="1600" dirty="0">
                <a:solidFill>
                  <a:srgbClr val="F2F6FF"/>
                </a:solidFill>
              </a:rPr>
              <a:t> Tanh pada generator. Noise dan label </a:t>
            </a:r>
            <a:r>
              <a:rPr sz="1600" dirty="0" err="1">
                <a:solidFill>
                  <a:srgbClr val="F2F6FF"/>
                </a:solidFill>
              </a:rPr>
              <a:t>tetap</a:t>
            </a:r>
            <a:r>
              <a:rPr sz="1600" dirty="0">
                <a:solidFill>
                  <a:srgbClr val="F2F6FF"/>
                </a:solidFill>
              </a:rPr>
              <a:t> </a:t>
            </a:r>
            <a:r>
              <a:rPr sz="1600" dirty="0" err="1">
                <a:solidFill>
                  <a:srgbClr val="F2F6FF"/>
                </a:solidFill>
              </a:rPr>
              <a:t>digunakan</a:t>
            </a:r>
            <a:r>
              <a:rPr sz="1600" dirty="0">
                <a:solidFill>
                  <a:srgbClr val="F2F6FF"/>
                </a:solidFill>
              </a:rPr>
              <a:t> agar </a:t>
            </a:r>
            <a:r>
              <a:rPr sz="1600" dirty="0" err="1">
                <a:solidFill>
                  <a:srgbClr val="F2F6FF"/>
                </a:solidFill>
              </a:rPr>
              <a:t>hasil</a:t>
            </a:r>
            <a:r>
              <a:rPr sz="1600" dirty="0">
                <a:solidFill>
                  <a:srgbClr val="F2F6FF"/>
                </a:solidFill>
              </a:rPr>
              <a:t> </a:t>
            </a:r>
            <a:r>
              <a:rPr sz="1600" dirty="0" err="1">
                <a:solidFill>
                  <a:srgbClr val="F2F6FF"/>
                </a:solidFill>
              </a:rPr>
              <a:t>antarepoch</a:t>
            </a:r>
            <a:r>
              <a:rPr sz="1600" dirty="0">
                <a:solidFill>
                  <a:srgbClr val="F2F6FF"/>
                </a:solidFill>
              </a:rPr>
              <a:t> </a:t>
            </a:r>
            <a:r>
              <a:rPr sz="1600" dirty="0" err="1">
                <a:solidFill>
                  <a:srgbClr val="F2F6FF"/>
                </a:solidFill>
              </a:rPr>
              <a:t>dapat</a:t>
            </a:r>
            <a:r>
              <a:rPr sz="1600" dirty="0">
                <a:solidFill>
                  <a:srgbClr val="F2F6FF"/>
                </a:solidFill>
              </a:rPr>
              <a:t> </a:t>
            </a:r>
            <a:r>
              <a:rPr sz="1600" dirty="0" err="1">
                <a:solidFill>
                  <a:srgbClr val="F2F6FF"/>
                </a:solidFill>
              </a:rPr>
              <a:t>dibandingkan</a:t>
            </a:r>
            <a:r>
              <a:rPr sz="1600" dirty="0">
                <a:solidFill>
                  <a:srgbClr val="F2F6FF"/>
                </a:solidFill>
              </a:rPr>
              <a:t>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09560" y="3474720"/>
            <a:ext cx="3538728" cy="2139696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330184" y="3872483"/>
            <a:ext cx="50292" cy="301752"/>
          </a:xfrm>
          <a:prstGeom prst="rect">
            <a:avLst/>
          </a:prstGeom>
          <a:solidFill>
            <a:srgbClr val="AD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94776" y="3854196"/>
            <a:ext cx="2971800" cy="39319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F2F6FF"/>
                </a:solidFill>
              </a:rPr>
              <a:t>Contoh kategori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03336" y="4421124"/>
            <a:ext cx="3035808" cy="1289303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B8C8DE"/>
                </a:solidFill>
                <a:latin typeface="Aptos"/>
              </a:defRPr>
            </a:pPr>
            <a:r>
              <a:rPr sz="1600" dirty="0">
                <a:solidFill>
                  <a:srgbClr val="F2F6FF"/>
                </a:solidFill>
              </a:rPr>
              <a:t>Kaos · Celana </a:t>
            </a:r>
            <a:r>
              <a:rPr sz="1600" dirty="0" err="1">
                <a:solidFill>
                  <a:srgbClr val="F2F6FF"/>
                </a:solidFill>
              </a:rPr>
              <a:t>panjang</a:t>
            </a:r>
            <a:r>
              <a:rPr sz="1600" dirty="0">
                <a:solidFill>
                  <a:srgbClr val="F2F6FF"/>
                </a:solidFill>
              </a:rPr>
              <a:t> · Pullover
Gaun · Mantel · Sandal · </a:t>
            </a:r>
            <a:r>
              <a:rPr sz="1600" dirty="0" err="1">
                <a:solidFill>
                  <a:srgbClr val="F2F6FF"/>
                </a:solidFill>
              </a:rPr>
              <a:t>Kemeja</a:t>
            </a:r>
            <a:r>
              <a:rPr sz="1600" dirty="0">
                <a:solidFill>
                  <a:srgbClr val="F2F6FF"/>
                </a:solidFill>
              </a:rPr>
              <a:t>
Sneaker · Tas · Sepatu bot</a:t>
            </a:r>
          </a:p>
          <a:p>
            <a:pPr>
              <a:spcAft>
                <a:spcPts val="0"/>
              </a:spcAft>
              <a:defRPr sz="1300" b="0">
                <a:solidFill>
                  <a:srgbClr val="B8C8DE"/>
                </a:solidFill>
                <a:latin typeface="Aptos"/>
              </a:defRPr>
            </a:pPr>
            <a:endParaRPr sz="1600" dirty="0">
              <a:solidFill>
                <a:srgbClr val="F2F6FF"/>
              </a:solidFill>
            </a:endParaRPr>
          </a:p>
          <a:p>
            <a:pPr>
              <a:spcAft>
                <a:spcPts val="0"/>
              </a:spcAft>
              <a:defRPr sz="1300" b="0">
                <a:solidFill>
                  <a:srgbClr val="B8C8DE"/>
                </a:solidFill>
                <a:latin typeface="Aptos"/>
              </a:defRPr>
            </a:pPr>
            <a:endParaRPr sz="1600" dirty="0">
              <a:solidFill>
                <a:srgbClr val="F2F6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75488" y="320040"/>
            <a:ext cx="118872" cy="118872"/>
          </a:xfrm>
          <a:prstGeom prst="round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20040"/>
            <a:ext cx="8229600" cy="22860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55D8D7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A DAY IN ALI  /  AI GENERATIF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41248"/>
            <a:ext cx="10881360" cy="56692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Bagaimana cGAN Bekerja?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10744200" cy="420624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B8C8DE"/>
                </a:solidFill>
                <a:latin typeface="Aptos"/>
              </a:defRPr>
            </a:pPr>
            <a:r>
              <a:rPr sz="2000">
                <a:solidFill>
                  <a:srgbClr val="F2F6FF"/>
                </a:solidFill>
              </a:rPr>
              <a:t>Dua jaringan dilatih secara bersaing, dan keduanya menerima informasi label kelas.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55080"/>
            <a:ext cx="10744200" cy="10972"/>
          </a:xfrm>
          <a:prstGeom prst="rect">
            <a:avLst/>
          </a:prstGeom>
          <a:solidFill>
            <a:srgbClr val="304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6419088"/>
            <a:ext cx="6400800" cy="21031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B8C8DE"/>
                </a:solidFill>
                <a:latin typeface="Aptos"/>
              </a:defRPr>
            </a:pPr>
            <a:r>
              <a:rPr sz="900">
                <a:solidFill>
                  <a:srgbClr val="BECCDF"/>
                </a:solidFill>
              </a:rPr>
              <a:t>TELKOM UNIVERSITY  •  PROYEK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6446520"/>
            <a:ext cx="713232" cy="228600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norm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B8C8DE"/>
                </a:solidFill>
                <a:latin typeface="Aptos"/>
              </a:defRPr>
            </a:pPr>
            <a:r>
              <a:rPr sz="900">
                <a:solidFill>
                  <a:srgbClr val="BECCDF"/>
                </a:solidFill>
              </a:rPr>
              <a:t>04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039112"/>
            <a:ext cx="5230368" cy="3154680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79576" y="2866644"/>
            <a:ext cx="50292" cy="301752"/>
          </a:xfrm>
          <a:prstGeom prst="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44168" y="2848356"/>
            <a:ext cx="4663440" cy="39319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rPr sz="2000" dirty="0">
                <a:solidFill>
                  <a:srgbClr val="F2F6FF"/>
                </a:solidFill>
              </a:rPr>
              <a:t>Generator G(z, 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3415284"/>
            <a:ext cx="4727448" cy="230428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B8C8DE"/>
                </a:solidFill>
                <a:latin typeface="Aptos"/>
              </a:defRPr>
            </a:pPr>
            <a:r>
              <a:rPr sz="2000">
                <a:solidFill>
                  <a:srgbClr val="F2F6FF"/>
                </a:solidFill>
              </a:rPr>
              <a:t>Noise 64 dimensi + embedding label 32 dimensi → masukan 96 dimensi → proyeksi linear → diperbesar dari 7×7 ke 14×14 lalu 28×28 → gambar Tanh.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039112"/>
            <a:ext cx="5230368" cy="3154680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638544" y="2866644"/>
            <a:ext cx="50292" cy="301752"/>
          </a:xfrm>
          <a:prstGeom prst="rect">
            <a:avLst/>
          </a:prstGeom>
          <a:solidFill>
            <a:srgbClr val="AD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03136" y="2848356"/>
            <a:ext cx="4663440" cy="39319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rPr sz="2000">
                <a:solidFill>
                  <a:srgbClr val="F2F6FF"/>
                </a:solidFill>
              </a:rPr>
              <a:t>Diskriminator D(x, 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1696" y="3415284"/>
            <a:ext cx="4727448" cy="230428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B8C8DE"/>
                </a:solidFill>
                <a:latin typeface="Aptos"/>
              </a:defRPr>
            </a:pPr>
            <a:r>
              <a:rPr sz="2000">
                <a:solidFill>
                  <a:srgbClr val="F2F6FF"/>
                </a:solidFill>
              </a:rPr>
              <a:t>Menerima gambar dan peta spasial label kelas. Lapisan konvolusi menghasilkan satu logit asli/palsu untuk menilai kecocokan gambar dengan kelas.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5321808"/>
            <a:ext cx="3355848" cy="886968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5431536"/>
            <a:ext cx="2990088" cy="356616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55D8D7"/>
                </a:solidFill>
                <a:latin typeface="Aptos"/>
              </a:defRPr>
            </a:pPr>
            <a:r>
              <a:rPr sz="2200">
                <a:solidFill>
                  <a:srgbClr val="53CFD8"/>
                </a:solidFill>
              </a:rPr>
              <a:t>741,249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5879592"/>
            <a:ext cx="2990088" cy="219456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B8C8DE"/>
                </a:solidFill>
                <a:latin typeface="Aptos"/>
              </a:defRPr>
            </a:pPr>
            <a:r>
              <a:rPr sz="2000">
                <a:solidFill>
                  <a:srgbClr val="F2F6FF"/>
                </a:solidFill>
              </a:rPr>
              <a:t>Parameter generator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61688" y="5321808"/>
            <a:ext cx="3355848" cy="886968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62855" y="5431536"/>
            <a:ext cx="2990088" cy="356616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55D8D7"/>
                </a:solidFill>
                <a:latin typeface="Aptos"/>
              </a:defRPr>
            </a:pPr>
            <a:r>
              <a:rPr sz="2200">
                <a:solidFill>
                  <a:srgbClr val="53CFD8"/>
                </a:solidFill>
              </a:rPr>
              <a:t>192,881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5" y="5879592"/>
            <a:ext cx="2990088" cy="219456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B8C8DE"/>
                </a:solidFill>
                <a:latin typeface="Aptos"/>
              </a:defRPr>
            </a:pPr>
            <a:r>
              <a:rPr sz="2000">
                <a:solidFill>
                  <a:srgbClr val="F2F6FF"/>
                </a:solidFill>
              </a:rPr>
              <a:t>Parameter diskriminator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73568" y="5321808"/>
            <a:ext cx="3355848" cy="886968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74736" y="5431536"/>
            <a:ext cx="2990088" cy="356616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55D8D7"/>
                </a:solidFill>
                <a:latin typeface="Aptos"/>
              </a:defRPr>
            </a:pPr>
            <a:r>
              <a:rPr sz="2200">
                <a:solidFill>
                  <a:srgbClr val="53CFD8"/>
                </a:solidFill>
              </a:rPr>
              <a:t>934,130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4736" y="5879592"/>
            <a:ext cx="2990088" cy="219456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B8C8DE"/>
                </a:solidFill>
                <a:latin typeface="Aptos"/>
              </a:defRPr>
            </a:pPr>
            <a:r>
              <a:rPr sz="2000">
                <a:solidFill>
                  <a:srgbClr val="F2F6FF"/>
                </a:solidFill>
              </a:rPr>
              <a:t>Total parameter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75488" y="320040"/>
            <a:ext cx="118872" cy="118872"/>
          </a:xfrm>
          <a:prstGeom prst="round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20040"/>
            <a:ext cx="8229600" cy="22860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55D8D7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A DAY IN ALI  /  AI GENERATIF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41248"/>
            <a:ext cx="10881360" cy="56692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Arsitektur: Alur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10744200" cy="420624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B8C8DE"/>
                </a:solidFill>
                <a:latin typeface="Aptos"/>
              </a:defRPr>
            </a:pPr>
            <a:r>
              <a:rPr dirty="0">
                <a:solidFill>
                  <a:srgbClr val="F2F6FF"/>
                </a:solidFill>
              </a:rPr>
              <a:t>Generator </a:t>
            </a:r>
            <a:r>
              <a:rPr dirty="0" err="1">
                <a:solidFill>
                  <a:srgbClr val="F2F6FF"/>
                </a:solidFill>
              </a:rPr>
              <a:t>membuat</a:t>
            </a:r>
            <a:r>
              <a:rPr dirty="0">
                <a:solidFill>
                  <a:srgbClr val="F2F6FF"/>
                </a:solidFill>
              </a:rPr>
              <a:t> </a:t>
            </a:r>
            <a:r>
              <a:rPr sz="2000" dirty="0" err="1">
                <a:solidFill>
                  <a:srgbClr val="F2F6FF"/>
                </a:solidFill>
              </a:rPr>
              <a:t>gambar</a:t>
            </a:r>
            <a:r>
              <a:rPr dirty="0">
                <a:solidFill>
                  <a:srgbClr val="F2F6FF"/>
                </a:solidFill>
              </a:rPr>
              <a:t>, </a:t>
            </a:r>
            <a:r>
              <a:rPr dirty="0" err="1">
                <a:solidFill>
                  <a:srgbClr val="F2F6FF"/>
                </a:solidFill>
              </a:rPr>
              <a:t>kemudian</a:t>
            </a:r>
            <a:r>
              <a:rPr dirty="0">
                <a:solidFill>
                  <a:srgbClr val="F2F6FF"/>
                </a:solidFill>
              </a:rPr>
              <a:t> </a:t>
            </a:r>
            <a:r>
              <a:rPr dirty="0" err="1">
                <a:solidFill>
                  <a:srgbClr val="F2F6FF"/>
                </a:solidFill>
              </a:rPr>
              <a:t>diskriminator</a:t>
            </a:r>
            <a:r>
              <a:rPr dirty="0">
                <a:solidFill>
                  <a:srgbClr val="F2F6FF"/>
                </a:solidFill>
              </a:rPr>
              <a:t> </a:t>
            </a:r>
            <a:r>
              <a:rPr dirty="0" err="1">
                <a:solidFill>
                  <a:srgbClr val="F2F6FF"/>
                </a:solidFill>
              </a:rPr>
              <a:t>menilainya</a:t>
            </a:r>
            <a:r>
              <a:rPr dirty="0">
                <a:solidFill>
                  <a:srgbClr val="F2F6FF"/>
                </a:solidFill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55080"/>
            <a:ext cx="10744200" cy="10972"/>
          </a:xfrm>
          <a:prstGeom prst="rect">
            <a:avLst/>
          </a:prstGeom>
          <a:solidFill>
            <a:srgbClr val="304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6419088"/>
            <a:ext cx="6400800" cy="21031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B8C8DE"/>
                </a:solidFill>
                <a:latin typeface="Aptos"/>
              </a:defRPr>
            </a:pPr>
            <a:r>
              <a:rPr sz="900">
                <a:solidFill>
                  <a:srgbClr val="BECCDF"/>
                </a:solidFill>
              </a:rPr>
              <a:t>TELKOM UNIVERSITY  •  PROYEK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6446520"/>
            <a:ext cx="713232" cy="228600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norm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B8C8DE"/>
                </a:solidFill>
                <a:latin typeface="Aptos"/>
              </a:defRPr>
            </a:pPr>
            <a:r>
              <a:rPr sz="900">
                <a:solidFill>
                  <a:srgbClr val="BECCDF"/>
                </a:solidFill>
              </a:rPr>
              <a:t>05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68880"/>
            <a:ext cx="2596896" cy="1874519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3209" y="2834640"/>
            <a:ext cx="2240280" cy="38404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55D8D7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NOISE + LABEL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3209" y="3383280"/>
            <a:ext cx="2267712" cy="75895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B8C8DE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z: 64 dimensi
y: 32 dimensi</a:t>
            </a:r>
          </a:p>
          <a:p>
            <a:pPr>
              <a:spcAft>
                <a:spcPts val="0"/>
              </a:spcAft>
              <a:defRPr sz="1600" b="0">
                <a:solidFill>
                  <a:srgbClr val="B8C8DE"/>
                </a:solidFill>
                <a:latin typeface="Aptos"/>
              </a:defRPr>
            </a:pPr>
            <a:endParaRPr>
              <a:solidFill>
                <a:srgbClr val="F2F6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64991" y="3090672"/>
            <a:ext cx="301752" cy="38404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AD9CF7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30168" y="2468880"/>
            <a:ext cx="2596896" cy="1874519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63569" y="2834640"/>
            <a:ext cx="2240280" cy="38404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55D8D7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GENERATOR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9392" y="3396996"/>
            <a:ext cx="2267712" cy="75895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B8C8DE"/>
                </a:solidFill>
                <a:latin typeface="Aptos"/>
              </a:defRPr>
            </a:pPr>
            <a:r>
              <a:rPr lang="en-US" dirty="0">
                <a:solidFill>
                  <a:srgbClr val="F2F6FF"/>
                </a:solidFill>
              </a:rPr>
              <a:t>input:</a:t>
            </a:r>
            <a:r>
              <a:rPr dirty="0">
                <a:solidFill>
                  <a:srgbClr val="F2F6FF"/>
                </a:solidFill>
              </a:rPr>
              <a:t> 96-D
</a:t>
            </a:r>
            <a:r>
              <a:rPr lang="en-US" dirty="0">
                <a:solidFill>
                  <a:srgbClr val="F2F6FF"/>
                </a:solidFill>
              </a:rPr>
              <a:t>output:</a:t>
            </a:r>
            <a:r>
              <a:rPr dirty="0">
                <a:solidFill>
                  <a:srgbClr val="F2F6FF"/>
                </a:solidFill>
              </a:rPr>
              <a:t> 28×28</a:t>
            </a:r>
          </a:p>
          <a:p>
            <a:pPr>
              <a:spcAft>
                <a:spcPts val="0"/>
              </a:spcAft>
              <a:defRPr sz="1600" b="0">
                <a:solidFill>
                  <a:srgbClr val="B8C8DE"/>
                </a:solidFill>
                <a:latin typeface="Aptos"/>
              </a:defRPr>
            </a:pPr>
            <a:endParaRPr dirty="0">
              <a:solidFill>
                <a:srgbClr val="F2F6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45352" y="3090672"/>
            <a:ext cx="301752" cy="38404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AD9CF7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10528" y="2468880"/>
            <a:ext cx="2596896" cy="1874519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3929" y="2834640"/>
            <a:ext cx="2240280" cy="38404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55D8D7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DISKRIMINATOR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3282696"/>
            <a:ext cx="2267712" cy="75895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B8C8DE"/>
                </a:solidFill>
                <a:latin typeface="Aptos"/>
              </a:defRPr>
            </a:pPr>
            <a:r>
              <a:rPr lang="en-US" dirty="0">
                <a:solidFill>
                  <a:srgbClr val="F2F6FF"/>
                </a:solidFill>
              </a:rPr>
              <a:t>Output: </a:t>
            </a:r>
            <a:r>
              <a:rPr dirty="0" err="1">
                <a:solidFill>
                  <a:srgbClr val="F2F6FF"/>
                </a:solidFill>
              </a:rPr>
              <a:t>gambar</a:t>
            </a:r>
            <a:r>
              <a:rPr dirty="0">
                <a:solidFill>
                  <a:srgbClr val="F2F6FF"/>
                </a:solidFill>
              </a:rPr>
              <a:t> + label
</a:t>
            </a:r>
            <a:r>
              <a:rPr lang="en-US" dirty="0">
                <a:solidFill>
                  <a:srgbClr val="F2F6FF"/>
                </a:solidFill>
              </a:rPr>
              <a:t>Input: </a:t>
            </a:r>
            <a:r>
              <a:rPr dirty="0" err="1">
                <a:solidFill>
                  <a:srgbClr val="F2F6FF"/>
                </a:solidFill>
              </a:rPr>
              <a:t>skor</a:t>
            </a:r>
            <a:r>
              <a:rPr dirty="0">
                <a:solidFill>
                  <a:srgbClr val="F2F6FF"/>
                </a:solidFill>
              </a:rPr>
              <a:t> </a:t>
            </a:r>
            <a:r>
              <a:rPr dirty="0" err="1">
                <a:solidFill>
                  <a:srgbClr val="F2F6FF"/>
                </a:solidFill>
              </a:rPr>
              <a:t>asli</a:t>
            </a:r>
            <a:r>
              <a:rPr dirty="0">
                <a:solidFill>
                  <a:srgbClr val="F2F6FF"/>
                </a:solidFill>
              </a:rPr>
              <a:t>/</a:t>
            </a:r>
            <a:r>
              <a:rPr dirty="0" err="1">
                <a:solidFill>
                  <a:srgbClr val="F2F6FF"/>
                </a:solidFill>
              </a:rPr>
              <a:t>palsu</a:t>
            </a:r>
            <a:endParaRPr dirty="0">
              <a:solidFill>
                <a:srgbClr val="F2F6FF"/>
              </a:solidFill>
            </a:endParaRPr>
          </a:p>
          <a:p>
            <a:pPr>
              <a:spcAft>
                <a:spcPts val="0"/>
              </a:spcAft>
              <a:defRPr sz="1600" b="0">
                <a:solidFill>
                  <a:srgbClr val="B8C8DE"/>
                </a:solidFill>
                <a:latin typeface="Aptos"/>
              </a:defRPr>
            </a:pPr>
            <a:endParaRPr dirty="0">
              <a:solidFill>
                <a:srgbClr val="F2F6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25712" y="3090672"/>
            <a:ext cx="301752" cy="38404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AD9CF7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90888" y="2468880"/>
            <a:ext cx="2596896" cy="1874519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24288" y="2834640"/>
            <a:ext cx="2240280" cy="38404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55D8D7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PELATIHAN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4288" y="3383280"/>
            <a:ext cx="2267712" cy="75895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B8C8DE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perbarui G dan D
ulangi</a:t>
            </a:r>
          </a:p>
          <a:p>
            <a:pPr>
              <a:spcAft>
                <a:spcPts val="0"/>
              </a:spcAft>
              <a:defRPr sz="1600" b="0">
                <a:solidFill>
                  <a:srgbClr val="B8C8DE"/>
                </a:solidFill>
                <a:latin typeface="Aptos"/>
              </a:defRPr>
            </a:pPr>
            <a:endParaRPr>
              <a:solidFill>
                <a:srgbClr val="F2F6FF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49808" y="4892040"/>
            <a:ext cx="10716768" cy="749808"/>
          </a:xfrm>
          <a:prstGeom prst="roundRect">
            <a:avLst/>
          </a:prstGeom>
          <a:solidFill>
            <a:srgbClr val="203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7552" y="5084064"/>
            <a:ext cx="10241280" cy="41148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Intinya: generator (G) berusaha mengecoh diskriminator (D), sedangkan D belajar membedakan gambar asli dan buatan.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75488" y="320040"/>
            <a:ext cx="118872" cy="118872"/>
          </a:xfrm>
          <a:prstGeom prst="round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20040"/>
            <a:ext cx="8229600" cy="22860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55D8D7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A DAY IN ALI  /  AI GENERATIF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41248"/>
            <a:ext cx="10881360" cy="56692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Konfigurasi Pelatihan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11117580" cy="420624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B8C8DE"/>
                </a:solidFill>
                <a:latin typeface="Aptos"/>
              </a:defRPr>
            </a:pPr>
            <a:r>
              <a:rPr sz="2000">
                <a:solidFill>
                  <a:srgbClr val="F2F6FF"/>
                </a:solidFill>
              </a:rPr>
              <a:t>Model dasar yang ringan dan dapat direproduksi, bukan model besar yang sudah dilatih sebelumnya.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55080"/>
            <a:ext cx="10744200" cy="10972"/>
          </a:xfrm>
          <a:prstGeom prst="rect">
            <a:avLst/>
          </a:prstGeom>
          <a:solidFill>
            <a:srgbClr val="304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6419088"/>
            <a:ext cx="6400800" cy="21031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B8C8DE"/>
                </a:solidFill>
                <a:latin typeface="Aptos"/>
              </a:defRPr>
            </a:pPr>
            <a:r>
              <a:rPr sz="900">
                <a:solidFill>
                  <a:srgbClr val="BECCDF"/>
                </a:solidFill>
              </a:rPr>
              <a:t>TELKOM UNIVERSITY  •  PROYEK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6446520"/>
            <a:ext cx="713232" cy="228600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norm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B8C8DE"/>
                </a:solidFill>
                <a:latin typeface="Aptos"/>
              </a:defRPr>
            </a:pPr>
            <a:r>
              <a:rPr sz="900">
                <a:solidFill>
                  <a:srgbClr val="BECCDF"/>
                </a:solidFill>
              </a:rPr>
              <a:t>06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039112"/>
            <a:ext cx="5230368" cy="3493008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90894" y="2382775"/>
            <a:ext cx="50292" cy="301752"/>
          </a:xfrm>
          <a:prstGeom prst="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5485" y="2364487"/>
            <a:ext cx="4825503" cy="39319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rPr sz="2000">
                <a:solidFill>
                  <a:srgbClr val="F2F6FF"/>
                </a:solidFill>
              </a:rPr>
              <a:t>Konfigurasi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4045" y="2931415"/>
            <a:ext cx="4891735" cy="2642615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B8C8DE"/>
                </a:solidFill>
                <a:latin typeface="Aptos"/>
              </a:defRPr>
            </a:pPr>
            <a:r>
              <a:rPr sz="2000">
                <a:solidFill>
                  <a:srgbClr val="F2F6FF"/>
                </a:solidFill>
              </a:rPr>
              <a:t>Epoch: 30
Ukuran batch: 128
Learning rate Adam: 0,0002
Beta Adam: (0,5; 0,999)
Random seed: 42</a:t>
            </a:r>
          </a:p>
          <a:p>
            <a:pPr>
              <a:spcAft>
                <a:spcPts val="0"/>
              </a:spcAft>
              <a:defRPr sz="1600" b="0">
                <a:solidFill>
                  <a:srgbClr val="B8C8DE"/>
                </a:solidFill>
                <a:latin typeface="Aptos"/>
              </a:defRPr>
            </a:pPr>
            <a:endParaRPr sz="2000">
              <a:solidFill>
                <a:srgbClr val="F2F6FF"/>
              </a:solidFill>
            </a:endParaRPr>
          </a:p>
          <a:p>
            <a:pPr>
              <a:spcAft>
                <a:spcPts val="0"/>
              </a:spcAft>
              <a:defRPr sz="1600" b="0">
                <a:solidFill>
                  <a:srgbClr val="B8C8DE"/>
                </a:solidFill>
                <a:latin typeface="Aptos"/>
              </a:defRPr>
            </a:pPr>
            <a:endParaRPr sz="2000">
              <a:solidFill>
                <a:srgbClr val="F2F6FF"/>
              </a:solidFill>
            </a:endParaRPr>
          </a:p>
          <a:p>
            <a:pPr>
              <a:spcAft>
                <a:spcPts val="0"/>
              </a:spcAft>
              <a:defRPr sz="1600" b="0">
                <a:solidFill>
                  <a:srgbClr val="B8C8DE"/>
                </a:solidFill>
                <a:latin typeface="Aptos"/>
              </a:defRPr>
            </a:pPr>
            <a:endParaRPr sz="2000">
              <a:solidFill>
                <a:srgbClr val="F2F6FF"/>
              </a:solidFill>
            </a:endParaRPr>
          </a:p>
          <a:p>
            <a:pPr>
              <a:spcAft>
                <a:spcPts val="0"/>
              </a:spcAft>
              <a:defRPr sz="1600" b="0">
                <a:solidFill>
                  <a:srgbClr val="B8C8DE"/>
                </a:solidFill>
                <a:latin typeface="Aptos"/>
              </a:defRPr>
            </a:pPr>
            <a:endParaRPr sz="2000">
              <a:solidFill>
                <a:srgbClr val="F2F6FF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17920" y="2039112"/>
            <a:ext cx="5230368" cy="3493008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9006" y="2382775"/>
            <a:ext cx="50292" cy="301752"/>
          </a:xfrm>
          <a:prstGeom prst="rect">
            <a:avLst/>
          </a:prstGeom>
          <a:solidFill>
            <a:srgbClr val="AD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23597" y="2364487"/>
            <a:ext cx="4825503" cy="39319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rPr sz="2000">
                <a:solidFill>
                  <a:srgbClr val="F2F6FF"/>
                </a:solidFill>
              </a:rPr>
              <a:t>Pelatihan Adversarial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2157" y="2931415"/>
            <a:ext cx="4071715" cy="2642615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B8C8DE"/>
                </a:solidFill>
                <a:latin typeface="Aptos"/>
              </a:defRPr>
            </a:pPr>
            <a:r>
              <a:rPr sz="2000" dirty="0">
                <a:solidFill>
                  <a:srgbClr val="F2F6FF"/>
                </a:solidFill>
              </a:rPr>
              <a:t>Loss: </a:t>
            </a:r>
            <a:r>
              <a:rPr sz="2000" dirty="0" err="1">
                <a:solidFill>
                  <a:srgbClr val="F2F6FF"/>
                </a:solidFill>
              </a:rPr>
              <a:t>BCEWithLogitsLoss</a:t>
            </a:r>
            <a:r>
              <a:rPr sz="2000" dirty="0">
                <a:solidFill>
                  <a:srgbClr val="F2F6FF"/>
                </a:solidFill>
              </a:rPr>
              <a:t>
Label smoothing (</a:t>
            </a:r>
            <a:r>
              <a:rPr sz="2000" dirty="0" err="1">
                <a:solidFill>
                  <a:srgbClr val="F2F6FF"/>
                </a:solidFill>
              </a:rPr>
              <a:t>asli</a:t>
            </a:r>
            <a:r>
              <a:rPr sz="2000" dirty="0">
                <a:solidFill>
                  <a:srgbClr val="F2F6FF"/>
                </a:solidFill>
              </a:rPr>
              <a:t>): 0,9
</a:t>
            </a:r>
            <a:r>
              <a:rPr sz="2000" dirty="0" err="1">
                <a:solidFill>
                  <a:srgbClr val="F2F6FF"/>
                </a:solidFill>
              </a:rPr>
              <a:t>Setiap</a:t>
            </a:r>
            <a:r>
              <a:rPr sz="2000" dirty="0">
                <a:solidFill>
                  <a:srgbClr val="F2F6FF"/>
                </a:solidFill>
              </a:rPr>
              <a:t> batch </a:t>
            </a:r>
            <a:r>
              <a:rPr sz="2000" dirty="0" err="1">
                <a:solidFill>
                  <a:srgbClr val="F2F6FF"/>
                </a:solidFill>
              </a:rPr>
              <a:t>memperbarui</a:t>
            </a:r>
            <a:r>
              <a:rPr sz="2000" dirty="0">
                <a:solidFill>
                  <a:srgbClr val="F2F6FF"/>
                </a:solidFill>
              </a:rPr>
              <a:t> </a:t>
            </a:r>
            <a:r>
              <a:rPr sz="2000" dirty="0" err="1">
                <a:solidFill>
                  <a:srgbClr val="F2F6FF"/>
                </a:solidFill>
              </a:rPr>
              <a:t>diskriminator</a:t>
            </a:r>
            <a:r>
              <a:rPr sz="2000" dirty="0">
                <a:solidFill>
                  <a:srgbClr val="F2F6FF"/>
                </a:solidFill>
              </a:rPr>
              <a:t> dan generator </a:t>
            </a:r>
            <a:r>
              <a:rPr sz="2000" dirty="0" err="1">
                <a:solidFill>
                  <a:srgbClr val="F2F6FF"/>
                </a:solidFill>
              </a:rPr>
              <a:t>satu</a:t>
            </a:r>
            <a:r>
              <a:rPr sz="2000" dirty="0">
                <a:solidFill>
                  <a:srgbClr val="F2F6FF"/>
                </a:solidFill>
              </a:rPr>
              <a:t> kali.
Checkpoint, </a:t>
            </a:r>
            <a:r>
              <a:rPr sz="2000" dirty="0" err="1">
                <a:solidFill>
                  <a:srgbClr val="F2F6FF"/>
                </a:solidFill>
              </a:rPr>
              <a:t>riwayat</a:t>
            </a:r>
            <a:r>
              <a:rPr sz="2000" dirty="0">
                <a:solidFill>
                  <a:srgbClr val="F2F6FF"/>
                </a:solidFill>
              </a:rPr>
              <a:t> loss, dan grid </a:t>
            </a:r>
            <a:r>
              <a:rPr sz="2000" dirty="0" err="1">
                <a:solidFill>
                  <a:srgbClr val="F2F6FF"/>
                </a:solidFill>
              </a:rPr>
              <a:t>sampel</a:t>
            </a:r>
            <a:r>
              <a:rPr sz="2000" dirty="0">
                <a:solidFill>
                  <a:srgbClr val="F2F6FF"/>
                </a:solidFill>
              </a:rPr>
              <a:t> </a:t>
            </a:r>
            <a:r>
              <a:rPr sz="2000" dirty="0" err="1">
                <a:solidFill>
                  <a:srgbClr val="F2F6FF"/>
                </a:solidFill>
              </a:rPr>
              <a:t>berlabel</a:t>
            </a:r>
            <a:r>
              <a:rPr sz="2000" dirty="0">
                <a:solidFill>
                  <a:srgbClr val="F2F6FF"/>
                </a:solidFill>
              </a:rPr>
              <a:t> </a:t>
            </a:r>
            <a:r>
              <a:rPr sz="2000" dirty="0" err="1">
                <a:solidFill>
                  <a:srgbClr val="F2F6FF"/>
                </a:solidFill>
              </a:rPr>
              <a:t>tetap</a:t>
            </a:r>
            <a:r>
              <a:rPr sz="2000" dirty="0">
                <a:solidFill>
                  <a:srgbClr val="F2F6FF"/>
                </a:solidFill>
              </a:rPr>
              <a:t> </a:t>
            </a:r>
            <a:r>
              <a:rPr sz="2000" dirty="0" err="1">
                <a:solidFill>
                  <a:srgbClr val="F2F6FF"/>
                </a:solidFill>
              </a:rPr>
              <a:t>disimpan</a:t>
            </a:r>
            <a:r>
              <a:rPr sz="2000" dirty="0">
                <a:solidFill>
                  <a:srgbClr val="F2F6FF"/>
                </a:solidFill>
              </a:rPr>
              <a:t>.</a:t>
            </a:r>
          </a:p>
          <a:p>
            <a:pPr>
              <a:spcAft>
                <a:spcPts val="0"/>
              </a:spcAft>
              <a:defRPr sz="1500" b="0">
                <a:solidFill>
                  <a:srgbClr val="B8C8DE"/>
                </a:solidFill>
                <a:latin typeface="Aptos"/>
              </a:defRPr>
            </a:pPr>
            <a:endParaRPr sz="2000" dirty="0">
              <a:solidFill>
                <a:srgbClr val="F2F6FF"/>
              </a:solidFill>
            </a:endParaRPr>
          </a:p>
          <a:p>
            <a:pPr>
              <a:spcAft>
                <a:spcPts val="0"/>
              </a:spcAft>
              <a:defRPr sz="1500" b="0">
                <a:solidFill>
                  <a:srgbClr val="B8C8DE"/>
                </a:solidFill>
                <a:latin typeface="Aptos"/>
              </a:defRPr>
            </a:pPr>
            <a:endParaRPr sz="2000" dirty="0">
              <a:solidFill>
                <a:srgbClr val="F2F6FF"/>
              </a:solidFill>
            </a:endParaRPr>
          </a:p>
          <a:p>
            <a:pPr>
              <a:spcAft>
                <a:spcPts val="0"/>
              </a:spcAft>
              <a:defRPr sz="1500" b="0">
                <a:solidFill>
                  <a:srgbClr val="B8C8DE"/>
                </a:solidFill>
                <a:latin typeface="Aptos"/>
              </a:defRPr>
            </a:pPr>
            <a:endParaRPr sz="2000" dirty="0">
              <a:solidFill>
                <a:srgbClr val="F2F6FF"/>
              </a:solidFill>
            </a:endParaRPr>
          </a:p>
          <a:p>
            <a:pPr>
              <a:spcAft>
                <a:spcPts val="0"/>
              </a:spcAft>
              <a:defRPr sz="1500" b="0">
                <a:solidFill>
                  <a:srgbClr val="B8C8DE"/>
                </a:solidFill>
                <a:latin typeface="Aptos"/>
              </a:defRPr>
            </a:pPr>
            <a:endParaRPr sz="2000" dirty="0">
              <a:solidFill>
                <a:srgbClr val="F2F6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75488" y="320040"/>
            <a:ext cx="118872" cy="118872"/>
          </a:xfrm>
          <a:prstGeom prst="round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20040"/>
            <a:ext cx="8229600" cy="22860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55D8D7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A DAY IN ALI  /  AI GENERATIF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41248"/>
            <a:ext cx="10881360" cy="56692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Bagaimana Hasil Gambar Dievaluasi?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10744200" cy="420624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B8C8DE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Classifier CNN terpisah digunakan untuk menghitung tiga metrik evaluasi.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55080"/>
            <a:ext cx="10744200" cy="10972"/>
          </a:xfrm>
          <a:prstGeom prst="rect">
            <a:avLst/>
          </a:prstGeom>
          <a:solidFill>
            <a:srgbClr val="304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6419088"/>
            <a:ext cx="6400800" cy="21031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B8C8DE"/>
                </a:solidFill>
                <a:latin typeface="Aptos"/>
              </a:defRPr>
            </a:pPr>
            <a:r>
              <a:rPr sz="900">
                <a:solidFill>
                  <a:srgbClr val="BECCDF"/>
                </a:solidFill>
              </a:rPr>
              <a:t>TELKOM UNIVERSITY  •  PROYEK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6446520"/>
            <a:ext cx="713232" cy="228600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norm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B8C8DE"/>
                </a:solidFill>
                <a:latin typeface="Aptos"/>
              </a:defRPr>
            </a:pPr>
            <a:r>
              <a:rPr sz="900">
                <a:solidFill>
                  <a:srgbClr val="BECCDF"/>
                </a:solidFill>
              </a:rPr>
              <a:t>07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011680"/>
            <a:ext cx="3410712" cy="3410712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97280" y="2606040"/>
            <a:ext cx="47273" cy="301752"/>
          </a:xfrm>
          <a:prstGeom prst="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61872" y="2587752"/>
            <a:ext cx="2673096" cy="39319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01  Akurasi Kondisional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154680"/>
            <a:ext cx="2733261" cy="256032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B8C8DE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Seberapa sering classifier memprediksi kelas yang diminta pada generator?
Semakin tinggi, semakin baik kesesuaian kelas yang terukur.</a:t>
            </a:r>
          </a:p>
          <a:p>
            <a:pPr>
              <a:spcAft>
                <a:spcPts val="0"/>
              </a:spcAft>
              <a:defRPr sz="1500" b="0">
                <a:solidFill>
                  <a:srgbClr val="B8C8DE"/>
                </a:solidFill>
                <a:latin typeface="Aptos"/>
              </a:defRPr>
            </a:pPr>
            <a:endParaRPr>
              <a:solidFill>
                <a:srgbClr val="F2F6FF"/>
              </a:solidFill>
            </a:endParaRPr>
          </a:p>
          <a:p>
            <a:pPr>
              <a:spcAft>
                <a:spcPts val="0"/>
              </a:spcAft>
              <a:defRPr sz="1500" b="0">
                <a:solidFill>
                  <a:srgbClr val="B8C8DE"/>
                </a:solidFill>
                <a:latin typeface="Aptos"/>
              </a:defRPr>
            </a:pPr>
            <a:endParaRPr>
              <a:solidFill>
                <a:srgbClr val="F2F6FF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389120" y="2011680"/>
            <a:ext cx="3410712" cy="3410712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36592" y="2606040"/>
            <a:ext cx="47273" cy="301752"/>
          </a:xfrm>
          <a:prstGeom prst="rect">
            <a:avLst/>
          </a:prstGeom>
          <a:solidFill>
            <a:srgbClr val="AD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01184" y="2587752"/>
            <a:ext cx="2673096" cy="39319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02  Entropi Prediksi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9744" y="3154680"/>
            <a:ext cx="2733261" cy="256032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B8C8DE"/>
                </a:solidFill>
                <a:latin typeface="Aptos"/>
              </a:defRPr>
            </a:pPr>
            <a:r>
              <a:rPr dirty="0" err="1">
                <a:solidFill>
                  <a:srgbClr val="F2F6FF"/>
                </a:solidFill>
              </a:rPr>
              <a:t>Apakah</a:t>
            </a:r>
            <a:r>
              <a:rPr dirty="0">
                <a:solidFill>
                  <a:srgbClr val="F2F6FF"/>
                </a:solidFill>
              </a:rPr>
              <a:t> </a:t>
            </a:r>
            <a:r>
              <a:rPr dirty="0" err="1">
                <a:solidFill>
                  <a:srgbClr val="F2F6FF"/>
                </a:solidFill>
              </a:rPr>
              <a:t>prediksi</a:t>
            </a:r>
            <a:r>
              <a:rPr dirty="0">
                <a:solidFill>
                  <a:srgbClr val="F2F6FF"/>
                </a:solidFill>
              </a:rPr>
              <a:t> </a:t>
            </a:r>
            <a:r>
              <a:rPr dirty="0" err="1">
                <a:solidFill>
                  <a:srgbClr val="F2F6FF"/>
                </a:solidFill>
              </a:rPr>
              <a:t>tersebar</a:t>
            </a:r>
            <a:r>
              <a:rPr dirty="0">
                <a:solidFill>
                  <a:srgbClr val="F2F6FF"/>
                </a:solidFill>
              </a:rPr>
              <a:t> di </a:t>
            </a:r>
            <a:r>
              <a:rPr dirty="0" err="1">
                <a:solidFill>
                  <a:srgbClr val="F2F6FF"/>
                </a:solidFill>
              </a:rPr>
              <a:t>sepuluh</a:t>
            </a:r>
            <a:r>
              <a:rPr dirty="0">
                <a:solidFill>
                  <a:srgbClr val="F2F6FF"/>
                </a:solidFill>
              </a:rPr>
              <a:t> </a:t>
            </a:r>
            <a:r>
              <a:rPr dirty="0" err="1">
                <a:solidFill>
                  <a:srgbClr val="F2F6FF"/>
                </a:solidFill>
              </a:rPr>
              <a:t>kategori</a:t>
            </a:r>
            <a:r>
              <a:rPr dirty="0">
                <a:solidFill>
                  <a:srgbClr val="F2F6FF"/>
                </a:solidFill>
              </a:rPr>
              <a:t>, </a:t>
            </a:r>
            <a:r>
              <a:rPr dirty="0" err="1">
                <a:solidFill>
                  <a:srgbClr val="F2F6FF"/>
                </a:solidFill>
              </a:rPr>
              <a:t>bukan</a:t>
            </a:r>
            <a:r>
              <a:rPr dirty="0">
                <a:solidFill>
                  <a:srgbClr val="F2F6FF"/>
                </a:solidFill>
              </a:rPr>
              <a:t> </a:t>
            </a:r>
            <a:r>
              <a:rPr dirty="0" err="1">
                <a:solidFill>
                  <a:srgbClr val="F2F6FF"/>
                </a:solidFill>
              </a:rPr>
              <a:t>terkumpul</a:t>
            </a:r>
            <a:r>
              <a:rPr dirty="0">
                <a:solidFill>
                  <a:srgbClr val="F2F6FF"/>
                </a:solidFill>
              </a:rPr>
              <a:t> pada </a:t>
            </a:r>
            <a:r>
              <a:rPr dirty="0" err="1">
                <a:solidFill>
                  <a:srgbClr val="F2F6FF"/>
                </a:solidFill>
              </a:rPr>
              <a:t>satu</a:t>
            </a:r>
            <a:r>
              <a:rPr dirty="0">
                <a:solidFill>
                  <a:srgbClr val="F2F6FF"/>
                </a:solidFill>
              </a:rPr>
              <a:t> </a:t>
            </a:r>
            <a:r>
              <a:rPr dirty="0" err="1">
                <a:solidFill>
                  <a:srgbClr val="F2F6FF"/>
                </a:solidFill>
              </a:rPr>
              <a:t>kelas</a:t>
            </a:r>
            <a:r>
              <a:rPr dirty="0">
                <a:solidFill>
                  <a:srgbClr val="F2F6FF"/>
                </a:solidFill>
              </a:rPr>
              <a:t>?
</a:t>
            </a:r>
            <a:r>
              <a:rPr dirty="0" err="1">
                <a:solidFill>
                  <a:srgbClr val="F2F6FF"/>
                </a:solidFill>
              </a:rPr>
              <a:t>Mendekati</a:t>
            </a:r>
            <a:r>
              <a:rPr dirty="0">
                <a:solidFill>
                  <a:srgbClr val="F2F6FF"/>
                </a:solidFill>
              </a:rPr>
              <a:t> 1 </a:t>
            </a:r>
            <a:r>
              <a:rPr dirty="0" err="1">
                <a:solidFill>
                  <a:srgbClr val="F2F6FF"/>
                </a:solidFill>
              </a:rPr>
              <a:t>berarti</a:t>
            </a:r>
            <a:r>
              <a:rPr dirty="0">
                <a:solidFill>
                  <a:srgbClr val="F2F6FF"/>
                </a:solidFill>
              </a:rPr>
              <a:t> </a:t>
            </a:r>
            <a:r>
              <a:rPr dirty="0" err="1">
                <a:solidFill>
                  <a:srgbClr val="F2F6FF"/>
                </a:solidFill>
              </a:rPr>
              <a:t>distribusi</a:t>
            </a:r>
            <a:r>
              <a:rPr dirty="0">
                <a:solidFill>
                  <a:srgbClr val="F2F6FF"/>
                </a:solidFill>
              </a:rPr>
              <a:t> </a:t>
            </a:r>
            <a:r>
              <a:rPr dirty="0" err="1">
                <a:solidFill>
                  <a:srgbClr val="F2F6FF"/>
                </a:solidFill>
              </a:rPr>
              <a:t>prediksi</a:t>
            </a:r>
            <a:r>
              <a:rPr dirty="0">
                <a:solidFill>
                  <a:srgbClr val="F2F6FF"/>
                </a:solidFill>
              </a:rPr>
              <a:t> </a:t>
            </a:r>
            <a:r>
              <a:rPr dirty="0" err="1">
                <a:solidFill>
                  <a:srgbClr val="F2F6FF"/>
                </a:solidFill>
              </a:rPr>
              <a:t>lebih</a:t>
            </a:r>
            <a:r>
              <a:rPr dirty="0">
                <a:solidFill>
                  <a:srgbClr val="F2F6FF"/>
                </a:solidFill>
              </a:rPr>
              <a:t> </a:t>
            </a:r>
            <a:r>
              <a:rPr dirty="0" err="1">
                <a:solidFill>
                  <a:srgbClr val="F2F6FF"/>
                </a:solidFill>
              </a:rPr>
              <a:t>seimbang</a:t>
            </a:r>
            <a:r>
              <a:rPr dirty="0">
                <a:solidFill>
                  <a:srgbClr val="F2F6FF"/>
                </a:solidFill>
              </a:rPr>
              <a:t>.</a:t>
            </a:r>
          </a:p>
          <a:p>
            <a:pPr>
              <a:spcAft>
                <a:spcPts val="0"/>
              </a:spcAft>
              <a:defRPr sz="1500" b="0">
                <a:solidFill>
                  <a:srgbClr val="B8C8DE"/>
                </a:solidFill>
                <a:latin typeface="Aptos"/>
              </a:defRPr>
            </a:pPr>
            <a:endParaRPr dirty="0">
              <a:solidFill>
                <a:srgbClr val="F2F6FF"/>
              </a:solidFill>
            </a:endParaRPr>
          </a:p>
          <a:p>
            <a:pPr>
              <a:spcAft>
                <a:spcPts val="0"/>
              </a:spcAft>
              <a:defRPr sz="1500" b="0">
                <a:solidFill>
                  <a:srgbClr val="B8C8DE"/>
                </a:solidFill>
                <a:latin typeface="Aptos"/>
              </a:defRPr>
            </a:pPr>
            <a:endParaRPr dirty="0">
              <a:solidFill>
                <a:srgbClr val="F2F6FF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028431" y="2011680"/>
            <a:ext cx="3410712" cy="3410712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375903" y="2606040"/>
            <a:ext cx="47273" cy="301752"/>
          </a:xfrm>
          <a:prstGeom prst="rect">
            <a:avLst/>
          </a:prstGeom>
          <a:solidFill>
            <a:srgbClr val="EBC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40496" y="2587752"/>
            <a:ext cx="2673096" cy="39319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03  Rasio Keberagaman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7344" y="3163824"/>
            <a:ext cx="2673096" cy="251460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</a:pPr>
            <a:r>
              <a:rPr sz="1500">
                <a:solidFill>
                  <a:srgbClr val="F2F6FF"/>
                </a:solidFill>
              </a:rPr>
              <a:t>Membandingkan jarak rata-rata antarfitur gambar buatan dan asli dalam ruang fitur CNN 128 dimensi.</a:t>
            </a:r>
          </a:p>
          <a:p>
            <a:pPr>
              <a:spcAft>
                <a:spcPts val="0"/>
              </a:spcAft>
            </a:pPr>
            <a:endParaRPr sz="1500">
              <a:solidFill>
                <a:srgbClr val="F2F6FF"/>
              </a:solidFill>
            </a:endParaRPr>
          </a:p>
          <a:p>
            <a:pPr>
              <a:spcAft>
                <a:spcPts val="0"/>
              </a:spcAft>
            </a:pPr>
            <a:r>
              <a:rPr sz="1500">
                <a:solidFill>
                  <a:srgbClr val="F2F6FF"/>
                </a:solidFill>
              </a:rPr>
              <a:t>Mendekati 1 berarti tingkat variasinya serupa.</a:t>
            </a:r>
          </a:p>
          <a:p>
            <a:pPr>
              <a:spcAft>
                <a:spcPts val="0"/>
              </a:spcAft>
            </a:pPr>
            <a:endParaRPr sz="1500">
              <a:solidFill>
                <a:srgbClr val="F2F6FF"/>
              </a:solidFill>
            </a:endParaRPr>
          </a:p>
          <a:p>
            <a:pPr>
              <a:spcAft>
                <a:spcPts val="0"/>
              </a:spcAft>
            </a:pPr>
            <a:endParaRPr sz="1500">
              <a:solidFill>
                <a:srgbClr val="F2F6FF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8680" y="5751576"/>
            <a:ext cx="10424160" cy="34747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Metrik ini tetap perlu dilengkapi dengan pemeriksaan visual gambar hasil generasi.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75488" y="320040"/>
            <a:ext cx="118872" cy="118872"/>
          </a:xfrm>
          <a:prstGeom prst="round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20040"/>
            <a:ext cx="8229600" cy="22860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55D8D7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A DAY IN ALI  /  AI GENERATIF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41248"/>
            <a:ext cx="10881360" cy="56692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Hasil Evaluasi Akhir (CUDA)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10744200" cy="420624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B8C8DE"/>
                </a:solidFill>
                <a:latin typeface="Aptos"/>
              </a:defRPr>
            </a:pPr>
            <a:r>
              <a:rPr sz="1600" dirty="0">
                <a:solidFill>
                  <a:srgbClr val="F2F6FF"/>
                </a:solidFill>
              </a:rPr>
              <a:t>Hasil </a:t>
            </a:r>
            <a:r>
              <a:rPr sz="1600" dirty="0" err="1">
                <a:solidFill>
                  <a:srgbClr val="F2F6FF"/>
                </a:solidFill>
              </a:rPr>
              <a:t>evaluasi</a:t>
            </a:r>
            <a:r>
              <a:rPr sz="1600" dirty="0">
                <a:solidFill>
                  <a:srgbClr val="F2F6FF"/>
                </a:solidFill>
              </a:rPr>
              <a:t> </a:t>
            </a:r>
            <a:r>
              <a:rPr sz="1600" dirty="0" err="1">
                <a:solidFill>
                  <a:srgbClr val="F2F6FF"/>
                </a:solidFill>
              </a:rPr>
              <a:t>dari</a:t>
            </a:r>
            <a:r>
              <a:rPr sz="1600" dirty="0">
                <a:solidFill>
                  <a:srgbClr val="F2F6FF"/>
                </a:solidFill>
              </a:rPr>
              <a:t> </a:t>
            </a:r>
            <a:r>
              <a:rPr sz="1600" dirty="0" err="1">
                <a:solidFill>
                  <a:srgbClr val="F2F6FF"/>
                </a:solidFill>
              </a:rPr>
              <a:t>pelatihan</a:t>
            </a:r>
            <a:r>
              <a:rPr sz="1600" dirty="0">
                <a:solidFill>
                  <a:srgbClr val="F2F6FF"/>
                </a:solidFill>
              </a:rPr>
              <a:t> 30 epoch </a:t>
            </a:r>
            <a:r>
              <a:rPr sz="1600" dirty="0" err="1">
                <a:solidFill>
                  <a:srgbClr val="F2F6FF"/>
                </a:solidFill>
              </a:rPr>
              <a:t>menggunakan</a:t>
            </a:r>
            <a:r>
              <a:rPr sz="1600" dirty="0">
                <a:solidFill>
                  <a:srgbClr val="F2F6FF"/>
                </a:solidFill>
              </a:rPr>
              <a:t> CUDA.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55080"/>
            <a:ext cx="10744200" cy="10972"/>
          </a:xfrm>
          <a:prstGeom prst="rect">
            <a:avLst/>
          </a:prstGeom>
          <a:solidFill>
            <a:srgbClr val="304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6419088"/>
            <a:ext cx="6400800" cy="21031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B8C8DE"/>
                </a:solidFill>
                <a:latin typeface="Aptos"/>
              </a:defRPr>
            </a:pPr>
            <a:r>
              <a:rPr sz="900">
                <a:solidFill>
                  <a:srgbClr val="BECCDF"/>
                </a:solidFill>
              </a:rPr>
              <a:t>TELKOM UNIVERSITY  •  PROYEK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6446520"/>
            <a:ext cx="713232" cy="228600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norm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B8C8DE"/>
                </a:solidFill>
                <a:latin typeface="Aptos"/>
              </a:defRPr>
            </a:pPr>
            <a:r>
              <a:rPr sz="900">
                <a:solidFill>
                  <a:srgbClr val="BECCDF"/>
                </a:solidFill>
              </a:rPr>
              <a:t>08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1993392"/>
            <a:ext cx="5230368" cy="1481328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157984"/>
            <a:ext cx="1920240" cy="521207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55D8D7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91.70%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98064" y="2203704"/>
            <a:ext cx="2971800" cy="32004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F5F8FF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Akurasi kondisional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2926080"/>
            <a:ext cx="4754880" cy="29260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B8C8DE"/>
                </a:solidFill>
                <a:latin typeface="Aptos"/>
              </a:defRPr>
            </a:pPr>
            <a:r>
              <a:rPr sz="1600">
                <a:solidFill>
                  <a:srgbClr val="F2F6FF"/>
                </a:solidFill>
              </a:rPr>
              <a:t>Kesesuaian label menurut CNN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993392"/>
            <a:ext cx="5230368" cy="1481328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37376" y="2157984"/>
            <a:ext cx="1920240" cy="521207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AD9CF7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91.29%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203704"/>
            <a:ext cx="2971800" cy="32004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F5F8FF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Akurasi CNN acuan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2926080"/>
            <a:ext cx="4754880" cy="29260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B8C8DE"/>
                </a:solidFill>
                <a:latin typeface="Aptos"/>
              </a:defRPr>
            </a:pPr>
            <a:r>
              <a:rPr sz="1600">
                <a:solidFill>
                  <a:srgbClr val="F2F6FF"/>
                </a:solidFill>
              </a:rPr>
              <a:t>Akurasi pada data uji asli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703320"/>
            <a:ext cx="5230368" cy="1481328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3867912"/>
            <a:ext cx="1920240" cy="521207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55D8D7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0.9986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98064" y="3913632"/>
            <a:ext cx="2971800" cy="32004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F5F8FF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Entropi prediksi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4636008"/>
            <a:ext cx="4754880" cy="29260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B8C8DE"/>
                </a:solidFill>
                <a:latin typeface="Aptos"/>
              </a:defRPr>
            </a:pPr>
            <a:r>
              <a:rPr sz="1600">
                <a:solidFill>
                  <a:srgbClr val="F2F6FF"/>
                </a:solidFill>
              </a:rPr>
              <a:t>Prediksi kelas hampir merata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703320"/>
            <a:ext cx="5230368" cy="1481328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37376" y="3867912"/>
            <a:ext cx="1920240" cy="521207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AD9CF7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0.9448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4" y="3913632"/>
            <a:ext cx="2971800" cy="50292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F5F8FF"/>
                </a:solidFill>
                <a:latin typeface="Aptos"/>
              </a:defRPr>
            </a:pPr>
            <a:r>
              <a:rPr sz="1200">
                <a:solidFill>
                  <a:srgbClr val="F2F6FF"/>
                </a:solidFill>
              </a:rPr>
              <a:t>Rata-rata rasio keberagaman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4636008"/>
            <a:ext cx="4754880" cy="29260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B8C8DE"/>
                </a:solidFill>
                <a:latin typeface="Aptos"/>
              </a:defRPr>
            </a:pPr>
            <a:r>
              <a:rPr sz="1600">
                <a:solidFill>
                  <a:srgbClr val="F2F6FF"/>
                </a:solidFill>
              </a:rPr>
              <a:t>Perbandingan variasi fitur buatan/asli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769864"/>
            <a:ext cx="10789920" cy="41148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EBC98C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Catatan: kelas yang seimbang tidak berarti kualitas visual sempurna; variasi fitur tidak menjamin bebas mode collapse.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75488" y="320040"/>
            <a:ext cx="118872" cy="118872"/>
          </a:xfrm>
          <a:prstGeom prst="round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20040"/>
            <a:ext cx="8229600" cy="22860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55D8D7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A DAY IN ALI  /  AI GENERATIF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41248"/>
            <a:ext cx="10881360" cy="56692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Perkembangan Selama Pelatihan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10744200" cy="420624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B8C8DE"/>
                </a:solidFill>
                <a:latin typeface="Aptos"/>
              </a:defRPr>
            </a:pPr>
            <a:r>
              <a:rPr dirty="0" err="1">
                <a:solidFill>
                  <a:srgbClr val="F2F6FF"/>
                </a:solidFill>
              </a:rPr>
              <a:t>Akurasi</a:t>
            </a:r>
            <a:r>
              <a:rPr dirty="0">
                <a:solidFill>
                  <a:srgbClr val="F2F6FF"/>
                </a:solidFill>
              </a:rPr>
              <a:t> </a:t>
            </a:r>
            <a:r>
              <a:rPr dirty="0" err="1">
                <a:solidFill>
                  <a:srgbClr val="F2F6FF"/>
                </a:solidFill>
              </a:rPr>
              <a:t>kondisional</a:t>
            </a:r>
            <a:r>
              <a:rPr dirty="0">
                <a:solidFill>
                  <a:srgbClr val="F2F6FF"/>
                </a:solidFill>
              </a:rPr>
              <a:t> pada checkpoint CUDA (</a:t>
            </a:r>
            <a:r>
              <a:rPr sz="1600" dirty="0">
                <a:solidFill>
                  <a:srgbClr val="F2F6FF"/>
                </a:solidFill>
              </a:rPr>
              <a:t>epoch</a:t>
            </a:r>
            <a:r>
              <a:rPr dirty="0">
                <a:solidFill>
                  <a:srgbClr val="F2F6FF"/>
                </a:solidFill>
              </a:rPr>
              <a:t> 1, 5, 10, 20, dan 30).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55080"/>
            <a:ext cx="10744200" cy="10972"/>
          </a:xfrm>
          <a:prstGeom prst="rect">
            <a:avLst/>
          </a:prstGeom>
          <a:solidFill>
            <a:srgbClr val="304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6419088"/>
            <a:ext cx="6400800" cy="21031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B8C8DE"/>
                </a:solidFill>
                <a:latin typeface="Aptos"/>
              </a:defRPr>
            </a:pPr>
            <a:r>
              <a:rPr sz="900">
                <a:solidFill>
                  <a:srgbClr val="BECCDF"/>
                </a:solidFill>
              </a:rPr>
              <a:t>TELKOM UNIVERSITY  •  PROYEK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6446520"/>
            <a:ext cx="713232" cy="228600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norm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B8C8DE"/>
                </a:solidFill>
                <a:latin typeface="Aptos"/>
              </a:defRPr>
            </a:pPr>
            <a:r>
              <a:rPr sz="900">
                <a:solidFill>
                  <a:srgbClr val="BECCDF"/>
                </a:solidFill>
              </a:rPr>
              <a:t>09 /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2020824"/>
            <a:ext cx="1554480" cy="36576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Epoch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87168" y="2075688"/>
            <a:ext cx="7360920" cy="246888"/>
          </a:xfrm>
          <a:prstGeom prst="rect">
            <a:avLst/>
          </a:prstGeom>
          <a:solidFill>
            <a:srgbClr val="203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487168" y="2075688"/>
            <a:ext cx="5704713" cy="246888"/>
          </a:xfrm>
          <a:prstGeom prst="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104120" y="2020824"/>
            <a:ext cx="1005840" cy="36576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0.737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706624"/>
            <a:ext cx="1554480" cy="36576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Epoch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2761488"/>
            <a:ext cx="7360920" cy="246888"/>
          </a:xfrm>
          <a:prstGeom prst="rect">
            <a:avLst/>
          </a:prstGeom>
          <a:solidFill>
            <a:srgbClr val="203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487168" y="2761488"/>
            <a:ext cx="6219977" cy="246888"/>
          </a:xfrm>
          <a:prstGeom prst="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04120" y="2706624"/>
            <a:ext cx="1005840" cy="36576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0.827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" y="3392424"/>
            <a:ext cx="1554480" cy="36576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Epoch 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7168" y="3447288"/>
            <a:ext cx="7360920" cy="246888"/>
          </a:xfrm>
          <a:prstGeom prst="rect">
            <a:avLst/>
          </a:prstGeom>
          <a:solidFill>
            <a:srgbClr val="203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487168" y="3447288"/>
            <a:ext cx="6632188" cy="246888"/>
          </a:xfrm>
          <a:prstGeom prst="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04120" y="3392424"/>
            <a:ext cx="1005840" cy="36576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0.903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" y="4078224"/>
            <a:ext cx="1554480" cy="36576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Epoch 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7168" y="4133087"/>
            <a:ext cx="7360920" cy="246888"/>
          </a:xfrm>
          <a:prstGeom prst="rect">
            <a:avLst/>
          </a:prstGeom>
          <a:solidFill>
            <a:srgbClr val="203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487168" y="4133087"/>
            <a:ext cx="6713159" cy="246888"/>
          </a:xfrm>
          <a:prstGeom prst="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104120" y="4078224"/>
            <a:ext cx="1005840" cy="36576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0.913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" y="4764024"/>
            <a:ext cx="1554480" cy="36576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Epoch 30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87168" y="4818888"/>
            <a:ext cx="7360920" cy="246888"/>
          </a:xfrm>
          <a:prstGeom prst="rect">
            <a:avLst/>
          </a:prstGeom>
          <a:solidFill>
            <a:srgbClr val="203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487168" y="4818888"/>
            <a:ext cx="6713159" cy="246888"/>
          </a:xfrm>
          <a:prstGeom prst="rect">
            <a:avLst/>
          </a:prstGeom>
          <a:solidFill>
            <a:srgbClr val="AD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104120" y="4764024"/>
            <a:ext cx="1005840" cy="36576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0.917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" y="5623560"/>
            <a:ext cx="10652760" cy="493776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5840" y="5733288"/>
            <a:ext cx="10149840" cy="24688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55D8D7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Pada epoch 30, akurasi kondisional CUDA mencapai 0,917 (91,70%).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75488" y="320040"/>
            <a:ext cx="118872" cy="118872"/>
          </a:xfrm>
          <a:prstGeom prst="round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20040"/>
            <a:ext cx="8229600" cy="22860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55D8D7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A DAY IN ALI  /  AI GENERATIF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41248"/>
            <a:ext cx="10881360" cy="56692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Contoh Debugging: Method embed() Hilang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10744200" cy="420624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B8C8DE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Evaluasi memerlukan vektor fitur, sedangkan classifier awalnya hanya menghasilkan logit.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55080"/>
            <a:ext cx="10744200" cy="10972"/>
          </a:xfrm>
          <a:prstGeom prst="rect">
            <a:avLst/>
          </a:prstGeom>
          <a:solidFill>
            <a:srgbClr val="304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6419088"/>
            <a:ext cx="6400800" cy="21031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B8C8DE"/>
                </a:solidFill>
                <a:latin typeface="Aptos"/>
              </a:defRPr>
            </a:pPr>
            <a:r>
              <a:rPr sz="900">
                <a:solidFill>
                  <a:srgbClr val="BECCDF"/>
                </a:solidFill>
              </a:rPr>
              <a:t>TELKOM UNIVERSITY  •  PROYEK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6446520"/>
            <a:ext cx="713232" cy="228600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norm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B8C8DE"/>
                </a:solidFill>
                <a:latin typeface="Aptos"/>
              </a:defRPr>
            </a:pPr>
            <a:r>
              <a:rPr sz="900">
                <a:solidFill>
                  <a:srgbClr val="BECCDF"/>
                </a:solidFill>
              </a:rPr>
              <a:t>10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057400"/>
            <a:ext cx="5230368" cy="3438144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38074" y="2826410"/>
            <a:ext cx="50292" cy="301752"/>
          </a:xfrm>
          <a:prstGeom prst="rect">
            <a:avLst/>
          </a:prstGeom>
          <a:solidFill>
            <a:srgbClr val="EBC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02666" y="2808122"/>
            <a:ext cx="4663440" cy="39319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rPr sz="2000">
                <a:solidFill>
                  <a:srgbClr val="F2F6FF"/>
                </a:solidFill>
              </a:rPr>
              <a:t>SEBELUM  /  ERROR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1226" y="3375050"/>
            <a:ext cx="3968494" cy="267004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B8C8DE"/>
                </a:solidFill>
                <a:latin typeface="Aptos"/>
              </a:defRPr>
            </a:pPr>
            <a:r>
              <a:rPr sz="2000" dirty="0" err="1">
                <a:solidFill>
                  <a:srgbClr val="F2F6FF"/>
                </a:solidFill>
              </a:rPr>
              <a:t>AttributeError</a:t>
            </a:r>
            <a:r>
              <a:rPr sz="2000" dirty="0">
                <a:solidFill>
                  <a:srgbClr val="F2F6FF"/>
                </a:solidFill>
              </a:rPr>
              <a:t>: 'Classifier' object has no attribute 'embed'
</a:t>
            </a:r>
            <a:r>
              <a:rPr sz="2000" dirty="0" err="1">
                <a:solidFill>
                  <a:srgbClr val="F2F6FF"/>
                </a:solidFill>
              </a:rPr>
              <a:t>Fungsi</a:t>
            </a:r>
            <a:r>
              <a:rPr sz="2000" dirty="0">
                <a:solidFill>
                  <a:srgbClr val="F2F6FF"/>
                </a:solidFill>
              </a:rPr>
              <a:t> </a:t>
            </a:r>
            <a:r>
              <a:rPr sz="2000" dirty="0" err="1">
                <a:solidFill>
                  <a:srgbClr val="F2F6FF"/>
                </a:solidFill>
              </a:rPr>
              <a:t>keberagaman</a:t>
            </a:r>
            <a:r>
              <a:rPr sz="2000" dirty="0">
                <a:solidFill>
                  <a:srgbClr val="F2F6FF"/>
                </a:solidFill>
              </a:rPr>
              <a:t> </a:t>
            </a:r>
            <a:r>
              <a:rPr sz="2000" dirty="0" err="1">
                <a:solidFill>
                  <a:srgbClr val="F2F6FF"/>
                </a:solidFill>
              </a:rPr>
              <a:t>gagal</a:t>
            </a:r>
            <a:r>
              <a:rPr sz="2000" dirty="0">
                <a:solidFill>
                  <a:srgbClr val="F2F6FF"/>
                </a:solidFill>
              </a:rPr>
              <a:t> </a:t>
            </a:r>
            <a:r>
              <a:rPr sz="2000" dirty="0" err="1">
                <a:solidFill>
                  <a:srgbClr val="F2F6FF"/>
                </a:solidFill>
              </a:rPr>
              <a:t>mengambil</a:t>
            </a:r>
            <a:r>
              <a:rPr sz="2000" dirty="0">
                <a:solidFill>
                  <a:srgbClr val="F2F6FF"/>
                </a:solidFill>
              </a:rPr>
              <a:t> </a:t>
            </a:r>
            <a:r>
              <a:rPr sz="2000" dirty="0" err="1">
                <a:solidFill>
                  <a:srgbClr val="F2F6FF"/>
                </a:solidFill>
              </a:rPr>
              <a:t>vektor</a:t>
            </a:r>
            <a:r>
              <a:rPr sz="2000" dirty="0">
                <a:solidFill>
                  <a:srgbClr val="F2F6FF"/>
                </a:solidFill>
              </a:rPr>
              <a:t> </a:t>
            </a:r>
            <a:r>
              <a:rPr sz="2000" dirty="0" err="1">
                <a:solidFill>
                  <a:srgbClr val="F2F6FF"/>
                </a:solidFill>
              </a:rPr>
              <a:t>fitur</a:t>
            </a:r>
            <a:r>
              <a:rPr sz="2000" dirty="0">
                <a:solidFill>
                  <a:srgbClr val="F2F6FF"/>
                </a:solidFill>
              </a:rPr>
              <a:t> 128 </a:t>
            </a:r>
            <a:r>
              <a:rPr sz="2000" dirty="0" err="1">
                <a:solidFill>
                  <a:srgbClr val="F2F6FF"/>
                </a:solidFill>
              </a:rPr>
              <a:t>dimensi</a:t>
            </a:r>
            <a:r>
              <a:rPr sz="2000" dirty="0">
                <a:solidFill>
                  <a:srgbClr val="F2F6FF"/>
                </a:solidFill>
              </a:rPr>
              <a:t>.</a:t>
            </a:r>
          </a:p>
          <a:p>
            <a:pPr>
              <a:spcAft>
                <a:spcPts val="0"/>
              </a:spcAft>
              <a:defRPr sz="1500" b="0">
                <a:solidFill>
                  <a:srgbClr val="B8C8DE"/>
                </a:solidFill>
                <a:latin typeface="Aptos"/>
              </a:defRPr>
            </a:pPr>
            <a:endParaRPr sz="2000" dirty="0">
              <a:solidFill>
                <a:srgbClr val="F2F6FF"/>
              </a:solidFill>
            </a:endParaRPr>
          </a:p>
          <a:p>
            <a:pPr>
              <a:spcAft>
                <a:spcPts val="0"/>
              </a:spcAft>
              <a:defRPr sz="1500" b="0">
                <a:solidFill>
                  <a:srgbClr val="B8C8DE"/>
                </a:solidFill>
                <a:latin typeface="Aptos"/>
              </a:defRPr>
            </a:pPr>
            <a:endParaRPr sz="2000" dirty="0">
              <a:solidFill>
                <a:srgbClr val="F2F6FF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17920" y="2057400"/>
            <a:ext cx="5230368" cy="3438144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06186" y="2826410"/>
            <a:ext cx="50292" cy="301752"/>
          </a:xfrm>
          <a:prstGeom prst="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70778" y="2808122"/>
            <a:ext cx="4663440" cy="39319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rPr sz="2000">
                <a:solidFill>
                  <a:srgbClr val="F2F6FF"/>
                </a:solidFill>
              </a:rPr>
              <a:t>SESUDAH  /  PERBAIKAN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9338" y="3375050"/>
            <a:ext cx="4727448" cy="267004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EBF3FF"/>
                </a:solidFill>
                <a:latin typeface="Aptos"/>
              </a:defRPr>
            </a:pPr>
            <a:r>
              <a:rPr sz="2000" dirty="0">
                <a:solidFill>
                  <a:srgbClr val="F2F6FF"/>
                </a:solidFill>
              </a:rPr>
              <a:t>def embed(self, x):</a:t>
            </a:r>
          </a:p>
          <a:p>
            <a:pPr>
              <a:spcAft>
                <a:spcPts val="0"/>
              </a:spcAft>
              <a:defRPr sz="1400">
                <a:solidFill>
                  <a:srgbClr val="EBF3FF"/>
                </a:solidFill>
                <a:latin typeface="Aptos"/>
              </a:defRPr>
            </a:pPr>
            <a:r>
              <a:rPr sz="2000" dirty="0">
                <a:solidFill>
                  <a:srgbClr val="F2F6FF"/>
                </a:solidFill>
              </a:rPr>
              <a:t>    return </a:t>
            </a:r>
            <a:r>
              <a:rPr sz="2000" dirty="0" err="1">
                <a:solidFill>
                  <a:srgbClr val="F2F6FF"/>
                </a:solidFill>
              </a:rPr>
              <a:t>self.features</a:t>
            </a:r>
            <a:r>
              <a:rPr sz="2000" dirty="0">
                <a:solidFill>
                  <a:srgbClr val="F2F6FF"/>
                </a:solidFill>
              </a:rPr>
              <a:t>(x)</a:t>
            </a:r>
          </a:p>
          <a:p>
            <a:pPr>
              <a:spcAft>
                <a:spcPts val="0"/>
              </a:spcAft>
              <a:defRPr sz="1400">
                <a:solidFill>
                  <a:srgbClr val="EBF3FF"/>
                </a:solidFill>
                <a:latin typeface="Aptos"/>
              </a:defRPr>
            </a:pPr>
            <a:endParaRPr sz="2000" dirty="0">
              <a:solidFill>
                <a:srgbClr val="F2F6FF"/>
              </a:solidFill>
            </a:endParaRPr>
          </a:p>
          <a:p>
            <a:pPr>
              <a:spcAft>
                <a:spcPts val="0"/>
              </a:spcAft>
              <a:defRPr sz="1400">
                <a:solidFill>
                  <a:srgbClr val="EBF3FF"/>
                </a:solidFill>
                <a:latin typeface="Aptos"/>
              </a:defRPr>
            </a:pPr>
            <a:r>
              <a:rPr sz="2000" dirty="0">
                <a:solidFill>
                  <a:srgbClr val="F2F6FF"/>
                </a:solidFill>
              </a:rPr>
              <a:t>def forward(self, x):</a:t>
            </a:r>
          </a:p>
          <a:p>
            <a:pPr>
              <a:spcAft>
                <a:spcPts val="0"/>
              </a:spcAft>
              <a:defRPr sz="1400">
                <a:solidFill>
                  <a:srgbClr val="EBF3FF"/>
                </a:solidFill>
                <a:latin typeface="Aptos"/>
              </a:defRPr>
            </a:pPr>
            <a:r>
              <a:rPr sz="2000" dirty="0">
                <a:solidFill>
                  <a:srgbClr val="F2F6FF"/>
                </a:solidFill>
              </a:rPr>
              <a:t>    return </a:t>
            </a:r>
            <a:r>
              <a:rPr sz="2000" dirty="0" err="1">
                <a:solidFill>
                  <a:srgbClr val="F2F6FF"/>
                </a:solidFill>
              </a:rPr>
              <a:t>self.head</a:t>
            </a:r>
            <a:r>
              <a:rPr sz="2000" dirty="0">
                <a:solidFill>
                  <a:srgbClr val="F2F6FF"/>
                </a:solidFill>
              </a:rPr>
              <a:t>(</a:t>
            </a:r>
            <a:r>
              <a:rPr sz="2000" dirty="0" err="1">
                <a:solidFill>
                  <a:srgbClr val="F2F6FF"/>
                </a:solidFill>
              </a:rPr>
              <a:t>self.embed</a:t>
            </a:r>
            <a:r>
              <a:rPr sz="2000" dirty="0">
                <a:solidFill>
                  <a:srgbClr val="F2F6FF"/>
                </a:solidFill>
              </a:rPr>
              <a:t>(x))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97296"/>
            <a:ext cx="10515600" cy="34747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B8C8DE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Ilustrasi alur dengan nama atribut sesuai repo (features dan head); detail fungsi mengikuti implementasi.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75488" y="320040"/>
            <a:ext cx="118872" cy="118872"/>
          </a:xfrm>
          <a:prstGeom prst="round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20040"/>
            <a:ext cx="8229600" cy="22860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55D8D7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A DAY IN ALI  /  AI GENERATIF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41248"/>
            <a:ext cx="10881360" cy="56692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Masalah Lain yang Diperbaiki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10744200" cy="420624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B8C8DE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Log menunjukkan proses pengujian dan revisi berulang, bukan hanya satu kali prompt ke LLM.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55080"/>
            <a:ext cx="10744200" cy="10972"/>
          </a:xfrm>
          <a:prstGeom prst="rect">
            <a:avLst/>
          </a:prstGeom>
          <a:solidFill>
            <a:srgbClr val="304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6419088"/>
            <a:ext cx="6400800" cy="21031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B8C8DE"/>
                </a:solidFill>
                <a:latin typeface="Aptos"/>
              </a:defRPr>
            </a:pPr>
            <a:r>
              <a:rPr sz="900">
                <a:solidFill>
                  <a:srgbClr val="BECCDF"/>
                </a:solidFill>
              </a:rPr>
              <a:t>TELKOM UNIVERSITY  •  PROYEK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6446520"/>
            <a:ext cx="713232" cy="228600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norm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B8C8DE"/>
                </a:solidFill>
                <a:latin typeface="Aptos"/>
              </a:defRPr>
            </a:pPr>
            <a:r>
              <a:rPr sz="900">
                <a:solidFill>
                  <a:srgbClr val="BECCDF"/>
                </a:solidFill>
              </a:rPr>
              <a:t>11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011680"/>
            <a:ext cx="5230368" cy="1664208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32688" y="2212848"/>
            <a:ext cx="50292" cy="301752"/>
          </a:xfrm>
          <a:prstGeom prst="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2194560"/>
            <a:ext cx="4663440" cy="39319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F2F6FF"/>
                </a:solidFill>
              </a:rPr>
              <a:t>Lingkungan / dependensi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761488"/>
            <a:ext cx="4727448" cy="813816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B8C8DE"/>
                </a:solidFill>
                <a:latin typeface="Aptos"/>
              </a:defRPr>
            </a:pPr>
            <a:r>
              <a:rPr sz="1600">
                <a:solidFill>
                  <a:srgbClr val="F2F6FF"/>
                </a:solidFill>
              </a:rPr>
              <a:t>Error ModuleNotFoundError: No module named torch akibat interpreter yang keliru; diperbaiki dengan .venv.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011680"/>
            <a:ext cx="5230368" cy="1664208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0" y="2212848"/>
            <a:ext cx="50292" cy="301752"/>
          </a:xfrm>
          <a:prstGeom prst="rect">
            <a:avLst/>
          </a:prstGeom>
          <a:solidFill>
            <a:srgbClr val="AD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65392" y="2194560"/>
            <a:ext cx="4663440" cy="39319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F2F6FF"/>
                </a:solidFill>
              </a:rPr>
              <a:t>Pelatihan ulang CNN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761488"/>
            <a:ext cx="4727448" cy="813816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B8C8DE"/>
                </a:solidFill>
                <a:latin typeface="Aptos"/>
              </a:defRPr>
            </a:pPr>
            <a:r>
              <a:rPr sz="1600">
                <a:solidFill>
                  <a:srgbClr val="F2F6FF"/>
                </a:solidFill>
              </a:rPr>
              <a:t>Menyimpan classifier.pt agar tidak dilatih berulang: sekitar 90 detik menjadi kurang dari 2 detik untuk memuat.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13632"/>
            <a:ext cx="5230368" cy="1664208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32688" y="4114800"/>
            <a:ext cx="50292" cy="301752"/>
          </a:xfrm>
          <a:prstGeom prst="rect">
            <a:avLst/>
          </a:prstGeom>
          <a:solidFill>
            <a:srgbClr val="EBC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096512"/>
            <a:ext cx="4663440" cy="39319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F2F6FF"/>
                </a:solidFill>
              </a:rPr>
              <a:t>Pengujian mode collapse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663440"/>
            <a:ext cx="4727448" cy="813816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B8C8DE"/>
                </a:solidFill>
                <a:latin typeface="Aptos"/>
              </a:defRPr>
            </a:pPr>
            <a:r>
              <a:rPr sz="1600">
                <a:solidFill>
                  <a:srgbClr val="F2F6FF"/>
                </a:solidFill>
              </a:rPr>
              <a:t>Menguji entropi 0 saat hanya satu kelas dan 1 saat prediksi sepuluh kelas merata.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913632"/>
            <a:ext cx="5230368" cy="1664208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0" y="4114800"/>
            <a:ext cx="50292" cy="301752"/>
          </a:xfrm>
          <a:prstGeom prst="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65392" y="4096512"/>
            <a:ext cx="4663440" cy="39319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F2F6FF"/>
                </a:solidFill>
              </a:rPr>
              <a:t>Metrik keberagaman yang stabil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4663440"/>
            <a:ext cx="4727448" cy="813816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B8C8DE"/>
                </a:solidFill>
                <a:latin typeface="Aptos"/>
              </a:defRPr>
            </a:pPr>
            <a:r>
              <a:rPr sz="1600">
                <a:solidFill>
                  <a:srgbClr val="F2F6FF"/>
                </a:solidFill>
              </a:rPr>
              <a:t>Menambahkan epsilon untuk mencegah pembagian nol dan menguji embedding 128 dimensi.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75488" y="320040"/>
            <a:ext cx="118872" cy="118872"/>
          </a:xfrm>
          <a:prstGeom prst="round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20040"/>
            <a:ext cx="8229600" cy="22860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55D8D7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A DAY IN ALI  /  AI GENERATIF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41248"/>
            <a:ext cx="10881360" cy="56692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Bagaimana Kami Menggunakan LLM?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10744200" cy="420624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B8C8DE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Perencanaan → debugging → optimasi, disertai pemeriksaan setiap perubahan.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55080"/>
            <a:ext cx="10744200" cy="10972"/>
          </a:xfrm>
          <a:prstGeom prst="rect">
            <a:avLst/>
          </a:prstGeom>
          <a:solidFill>
            <a:srgbClr val="304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6419088"/>
            <a:ext cx="6400800" cy="21031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B8C8DE"/>
                </a:solidFill>
                <a:latin typeface="Aptos"/>
              </a:defRPr>
            </a:pPr>
            <a:r>
              <a:rPr sz="900">
                <a:solidFill>
                  <a:srgbClr val="BECCDF"/>
                </a:solidFill>
              </a:rPr>
              <a:t>TELKOM UNIVERSITY  •  PROYEK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6446520"/>
            <a:ext cx="713232" cy="228600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norm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B8C8DE"/>
                </a:solidFill>
                <a:latin typeface="Aptos"/>
              </a:defRPr>
            </a:pPr>
            <a:r>
              <a:rPr sz="900">
                <a:solidFill>
                  <a:srgbClr val="BECCDF"/>
                </a:solidFill>
              </a:rPr>
              <a:t>12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240280"/>
            <a:ext cx="3438144" cy="3200400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52144" y="3196742"/>
            <a:ext cx="50292" cy="301752"/>
          </a:xfrm>
          <a:prstGeom prst="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16736" y="3178454"/>
            <a:ext cx="2871215" cy="39319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01  PERENCANAAN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3745382"/>
            <a:ext cx="2935224" cy="235000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B8C8DE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Merancang modul, arsitektur, pipeline data, dan pengujian.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25696" y="2240280"/>
            <a:ext cx="3438144" cy="3200400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828032" y="3196742"/>
            <a:ext cx="50292" cy="301752"/>
          </a:xfrm>
          <a:prstGeom prst="rect">
            <a:avLst/>
          </a:prstGeom>
          <a:solidFill>
            <a:srgbClr val="AD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92624" y="3178454"/>
            <a:ext cx="2871215" cy="39319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02  DEBUGGING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1184" y="3745382"/>
            <a:ext cx="2935224" cy="235000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B8C8DE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Memberikan pesan error dan hasil tes gagal agar perbaikannya tepat sasaran.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2240280"/>
            <a:ext cx="3438144" cy="3200400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503919" y="3196742"/>
            <a:ext cx="50292" cy="301752"/>
          </a:xfrm>
          <a:prstGeom prst="rect">
            <a:avLst/>
          </a:prstGeom>
          <a:solidFill>
            <a:srgbClr val="EBC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68512" y="3178454"/>
            <a:ext cx="2871215" cy="39319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03  OPTIMASI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7071" y="3745382"/>
            <a:ext cx="2935224" cy="235000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B8C8DE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Menyimpan bobot, meningkatkan reproduksibilitas, memperkuat kode, dan menyelaraskan dokumentasi.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696712"/>
            <a:ext cx="10424160" cy="45720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Yang penting: tim tetap memeriksa, menguji, mengintegrasikan, dan mendokumentasikan kode.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75488" y="320040"/>
            <a:ext cx="118872" cy="118872"/>
          </a:xfrm>
          <a:prstGeom prst="round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20040"/>
            <a:ext cx="8229600" cy="22860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55D8D7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A DAY IN ALI  /  AI GENERATIF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41248"/>
            <a:ext cx="10881360" cy="56692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Pembagian Tugas Tim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10744200" cy="47548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B8C8DE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Pembagian tugas berdasarkan empat log LLM; pekerjaan evaluasi dilakukan secara kolaboratif.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55080"/>
            <a:ext cx="10744200" cy="10972"/>
          </a:xfrm>
          <a:prstGeom prst="rect">
            <a:avLst/>
          </a:prstGeom>
          <a:solidFill>
            <a:srgbClr val="304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6419088"/>
            <a:ext cx="6400800" cy="21031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B8C8DE"/>
                </a:solidFill>
                <a:latin typeface="Aptos"/>
              </a:defRPr>
            </a:pPr>
            <a:r>
              <a:rPr sz="900">
                <a:solidFill>
                  <a:srgbClr val="BECCDF"/>
                </a:solidFill>
              </a:rPr>
              <a:t>TELKOM UNIVERSITY  •  PROYEK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6446520"/>
            <a:ext cx="713232" cy="228600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norm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B8C8DE"/>
                </a:solidFill>
                <a:latin typeface="Aptos"/>
              </a:defRPr>
            </a:pPr>
            <a:r>
              <a:rPr sz="900">
                <a:solidFill>
                  <a:srgbClr val="BECCDF"/>
                </a:solidFill>
              </a:rPr>
              <a:t>13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1975104"/>
            <a:ext cx="5230368" cy="1709928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32688" y="2176272"/>
            <a:ext cx="50292" cy="301752"/>
          </a:xfrm>
          <a:prstGeom prst="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2176272"/>
            <a:ext cx="4663440" cy="59436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Moreno / Prompt Engineer &amp; LLM Navigator (Ketua)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889504"/>
            <a:ext cx="4727448" cy="96012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B8C8DE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Perumusan proyek, setup repositori, integrasi, serta hasil CUDA dan gambar laporan.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975104"/>
            <a:ext cx="5230368" cy="1709928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0" y="2176272"/>
            <a:ext cx="50292" cy="301752"/>
          </a:xfrm>
          <a:prstGeom prst="rect">
            <a:avLst/>
          </a:prstGeom>
          <a:solidFill>
            <a:srgbClr val="AD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65392" y="2176272"/>
            <a:ext cx="4663440" cy="59436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rPr lang="en-US" dirty="0" err="1">
                <a:solidFill>
                  <a:srgbClr val="F2F6FF"/>
                </a:solidFill>
              </a:rPr>
              <a:t>Dafa</a:t>
            </a:r>
            <a:r>
              <a:rPr dirty="0">
                <a:solidFill>
                  <a:srgbClr val="F2F6FF"/>
                </a:solidFill>
              </a:rPr>
              <a:t> / Data Pipeline &amp; Preprocessing 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889504"/>
            <a:ext cx="4727448" cy="96012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B8C8DE"/>
                </a:solidFill>
                <a:latin typeface="Aptos"/>
              </a:defRPr>
            </a:pPr>
            <a:r>
              <a:rPr dirty="0" err="1">
                <a:solidFill>
                  <a:srgbClr val="F2F6FF"/>
                </a:solidFill>
              </a:rPr>
              <a:t>Konfigurasi</a:t>
            </a:r>
            <a:r>
              <a:rPr dirty="0">
                <a:solidFill>
                  <a:srgbClr val="F2F6FF"/>
                </a:solidFill>
              </a:rPr>
              <a:t>, </a:t>
            </a:r>
            <a:r>
              <a:rPr dirty="0" err="1">
                <a:solidFill>
                  <a:srgbClr val="F2F6FF"/>
                </a:solidFill>
              </a:rPr>
              <a:t>prapemrosesan</a:t>
            </a:r>
            <a:r>
              <a:rPr dirty="0">
                <a:solidFill>
                  <a:srgbClr val="F2F6FF"/>
                </a:solidFill>
              </a:rPr>
              <a:t>, generator/</a:t>
            </a:r>
            <a:r>
              <a:rPr dirty="0" err="1">
                <a:solidFill>
                  <a:srgbClr val="F2F6FF"/>
                </a:solidFill>
              </a:rPr>
              <a:t>diskriminator</a:t>
            </a:r>
            <a:r>
              <a:rPr dirty="0">
                <a:solidFill>
                  <a:srgbClr val="F2F6FF"/>
                </a:solidFill>
              </a:rPr>
              <a:t>, </a:t>
            </a:r>
            <a:r>
              <a:rPr dirty="0" err="1">
                <a:solidFill>
                  <a:srgbClr val="F2F6FF"/>
                </a:solidFill>
              </a:rPr>
              <a:t>serta</a:t>
            </a:r>
            <a:r>
              <a:rPr dirty="0">
                <a:solidFill>
                  <a:srgbClr val="F2F6FF"/>
                </a:solidFill>
              </a:rPr>
              <a:t> </a:t>
            </a:r>
            <a:r>
              <a:rPr dirty="0" err="1">
                <a:solidFill>
                  <a:srgbClr val="F2F6FF"/>
                </a:solidFill>
              </a:rPr>
              <a:t>pengujian</a:t>
            </a:r>
            <a:r>
              <a:rPr dirty="0">
                <a:solidFill>
                  <a:srgbClr val="F2F6FF"/>
                </a:solidFill>
              </a:rPr>
              <a:t> data dan model.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5230368" cy="1709928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32688" y="4133087"/>
            <a:ext cx="50292" cy="301752"/>
          </a:xfrm>
          <a:prstGeom prst="rect">
            <a:avLst/>
          </a:prstGeom>
          <a:solidFill>
            <a:srgbClr val="EBC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078223"/>
            <a:ext cx="4663440" cy="59436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Davu / Training Loop &amp; Hyperparameter Tuning Engineer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809744"/>
            <a:ext cx="4727448" cy="93268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B8C8DE"/>
                </a:solidFill>
                <a:latin typeface="Aptos"/>
              </a:defRPr>
            </a:pPr>
            <a:r>
              <a:rPr dirty="0">
                <a:solidFill>
                  <a:srgbClr val="F2F6FF"/>
                </a:solidFill>
              </a:rPr>
              <a:t>Training, checkpoint, sampling, </a:t>
            </a:r>
            <a:r>
              <a:rPr dirty="0" err="1">
                <a:solidFill>
                  <a:srgbClr val="F2F6FF"/>
                </a:solidFill>
              </a:rPr>
              <a:t>implementasi</a:t>
            </a:r>
            <a:r>
              <a:rPr dirty="0">
                <a:solidFill>
                  <a:srgbClr val="F2F6FF"/>
                </a:solidFill>
              </a:rPr>
              <a:t> src/evaluate.py dan </a:t>
            </a:r>
            <a:r>
              <a:rPr dirty="0" err="1">
                <a:solidFill>
                  <a:srgbClr val="F2F6FF"/>
                </a:solidFill>
              </a:rPr>
              <a:t>src</a:t>
            </a:r>
            <a:r>
              <a:rPr dirty="0">
                <a:solidFill>
                  <a:srgbClr val="F2F6FF"/>
                </a:solidFill>
              </a:rPr>
              <a:t>/sample.py, </a:t>
            </a:r>
            <a:r>
              <a:rPr dirty="0" err="1">
                <a:solidFill>
                  <a:srgbClr val="F2F6FF"/>
                </a:solidFill>
              </a:rPr>
              <a:t>serta</a:t>
            </a:r>
            <a:r>
              <a:rPr dirty="0">
                <a:solidFill>
                  <a:srgbClr val="F2F6FF"/>
                </a:solidFill>
              </a:rPr>
              <a:t> </a:t>
            </a:r>
            <a:r>
              <a:rPr dirty="0" err="1">
                <a:solidFill>
                  <a:srgbClr val="F2F6FF"/>
                </a:solidFill>
              </a:rPr>
              <a:t>tes</a:t>
            </a:r>
            <a:r>
              <a:rPr dirty="0">
                <a:solidFill>
                  <a:srgbClr val="F2F6FF"/>
                </a:solidFill>
              </a:rPr>
              <a:t> (commit e54e74a).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931920"/>
            <a:ext cx="5230368" cy="1709928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0" y="4133087"/>
            <a:ext cx="50292" cy="301752"/>
          </a:xfrm>
          <a:prstGeom prst="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65392" y="4078223"/>
            <a:ext cx="4663440" cy="59436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Ali / Lead Documentarian &amp; Error Handler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4809744"/>
            <a:ext cx="4727448" cy="93268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B8C8DE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Desain metrik, dokumentasi debugging embed(), edge-case tests, caching, dan rangkuman hasil.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75488" y="320040"/>
            <a:ext cx="118872" cy="118872"/>
          </a:xfrm>
          <a:prstGeom prst="round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20040"/>
            <a:ext cx="8229600" cy="22860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55D8D7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A DAY IN ALI  /  AI GENERATIF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41248"/>
            <a:ext cx="10881360" cy="56692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Apa yang Sudah Diuji dan Apa Batasannya?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10744200" cy="420624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B8C8DE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Kesimpulan disesuaikan dengan bukti yang tercatat dalam laporan.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55080"/>
            <a:ext cx="10744200" cy="10972"/>
          </a:xfrm>
          <a:prstGeom prst="rect">
            <a:avLst/>
          </a:prstGeom>
          <a:solidFill>
            <a:srgbClr val="304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6419088"/>
            <a:ext cx="6400800" cy="21031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B8C8DE"/>
                </a:solidFill>
                <a:latin typeface="Aptos"/>
              </a:defRPr>
            </a:pPr>
            <a:r>
              <a:rPr sz="900">
                <a:solidFill>
                  <a:srgbClr val="BECCDF"/>
                </a:solidFill>
              </a:rPr>
              <a:t>TELKOM UNIVERSITY  •  PROYEK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6446520"/>
            <a:ext cx="713232" cy="228600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norm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B8C8DE"/>
                </a:solidFill>
                <a:latin typeface="Aptos"/>
              </a:defRPr>
            </a:pPr>
            <a:r>
              <a:rPr sz="900">
                <a:solidFill>
                  <a:srgbClr val="BECCDF"/>
                </a:solidFill>
              </a:rPr>
              <a:t>14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084831"/>
            <a:ext cx="5230368" cy="3337560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79576" y="2958085"/>
            <a:ext cx="50292" cy="301752"/>
          </a:xfrm>
          <a:prstGeom prst="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44168" y="2939797"/>
            <a:ext cx="4663440" cy="39319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rPr sz="2000" dirty="0">
                <a:solidFill>
                  <a:srgbClr val="F2F6FF"/>
                </a:solidFill>
              </a:rPr>
              <a:t>Bukti </a:t>
            </a:r>
            <a:r>
              <a:rPr sz="2000" dirty="0" err="1">
                <a:solidFill>
                  <a:srgbClr val="F2F6FF"/>
                </a:solidFill>
              </a:rPr>
              <a:t>dari</a:t>
            </a:r>
            <a:r>
              <a:rPr sz="2000" dirty="0">
                <a:solidFill>
                  <a:srgbClr val="F2F6FF"/>
                </a:solidFill>
              </a:rPr>
              <a:t> 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3506724"/>
            <a:ext cx="4727448" cy="248716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B8C8DE"/>
                </a:solidFill>
                <a:latin typeface="Aptos"/>
              </a:defRPr>
            </a:pPr>
            <a:r>
              <a:rPr dirty="0" err="1">
                <a:solidFill>
                  <a:srgbClr val="F2F6FF"/>
                </a:solidFill>
              </a:rPr>
              <a:t>Pelatihan</a:t>
            </a:r>
            <a:r>
              <a:rPr dirty="0">
                <a:solidFill>
                  <a:srgbClr val="F2F6FF"/>
                </a:solidFill>
              </a:rPr>
              <a:t> </a:t>
            </a:r>
            <a:r>
              <a:rPr dirty="0" err="1">
                <a:solidFill>
                  <a:srgbClr val="F2F6FF"/>
                </a:solidFill>
              </a:rPr>
              <a:t>dasar</a:t>
            </a:r>
            <a:r>
              <a:rPr dirty="0">
                <a:solidFill>
                  <a:srgbClr val="F2F6FF"/>
                </a:solidFill>
              </a:rPr>
              <a:t> 30 epoch </a:t>
            </a:r>
            <a:r>
              <a:rPr dirty="0" err="1">
                <a:solidFill>
                  <a:srgbClr val="F2F6FF"/>
                </a:solidFill>
              </a:rPr>
              <a:t>selesai</a:t>
            </a:r>
            <a:r>
              <a:rPr dirty="0">
                <a:solidFill>
                  <a:srgbClr val="F2F6FF"/>
                </a:solidFill>
              </a:rPr>
              <a:t>.
</a:t>
            </a:r>
            <a:r>
              <a:rPr dirty="0" err="1">
                <a:solidFill>
                  <a:srgbClr val="F2F6FF"/>
                </a:solidFill>
              </a:rPr>
              <a:t>Jumlah</a:t>
            </a:r>
            <a:r>
              <a:rPr dirty="0">
                <a:solidFill>
                  <a:srgbClr val="F2F6FF"/>
                </a:solidFill>
              </a:rPr>
              <a:t> parameter model </a:t>
            </a:r>
            <a:r>
              <a:rPr dirty="0" err="1">
                <a:solidFill>
                  <a:srgbClr val="F2F6FF"/>
                </a:solidFill>
              </a:rPr>
              <a:t>tercatat</a:t>
            </a:r>
            <a:r>
              <a:rPr dirty="0">
                <a:solidFill>
                  <a:srgbClr val="F2F6FF"/>
                </a:solidFill>
              </a:rPr>
              <a:t>.
Grid </a:t>
            </a:r>
            <a:r>
              <a:rPr dirty="0" err="1">
                <a:solidFill>
                  <a:srgbClr val="F2F6FF"/>
                </a:solidFill>
              </a:rPr>
              <a:t>sampel</a:t>
            </a:r>
            <a:r>
              <a:rPr dirty="0">
                <a:solidFill>
                  <a:srgbClr val="F2F6FF"/>
                </a:solidFill>
              </a:rPr>
              <a:t>, loss, dan </a:t>
            </a:r>
            <a:r>
              <a:rPr dirty="0" err="1">
                <a:solidFill>
                  <a:srgbClr val="F2F6FF"/>
                </a:solidFill>
              </a:rPr>
              <a:t>metrik</a:t>
            </a:r>
            <a:r>
              <a:rPr dirty="0">
                <a:solidFill>
                  <a:srgbClr val="F2F6FF"/>
                </a:solidFill>
              </a:rPr>
              <a:t> </a:t>
            </a:r>
            <a:r>
              <a:rPr dirty="0" err="1">
                <a:solidFill>
                  <a:srgbClr val="F2F6FF"/>
                </a:solidFill>
              </a:rPr>
              <a:t>telah</a:t>
            </a:r>
            <a:r>
              <a:rPr dirty="0">
                <a:solidFill>
                  <a:srgbClr val="F2F6FF"/>
                </a:solidFill>
              </a:rPr>
              <a:t> </a:t>
            </a:r>
            <a:r>
              <a:rPr dirty="0" err="1">
                <a:solidFill>
                  <a:srgbClr val="F2F6FF"/>
                </a:solidFill>
              </a:rPr>
              <a:t>dihasilkan</a:t>
            </a:r>
            <a:r>
              <a:rPr dirty="0">
                <a:solidFill>
                  <a:srgbClr val="F2F6FF"/>
                </a:solidFill>
              </a:rPr>
              <a:t>.
Unit test </a:t>
            </a:r>
            <a:r>
              <a:rPr dirty="0" err="1">
                <a:solidFill>
                  <a:srgbClr val="F2F6FF"/>
                </a:solidFill>
              </a:rPr>
              <a:t>pelatihan</a:t>
            </a:r>
            <a:r>
              <a:rPr dirty="0">
                <a:solidFill>
                  <a:srgbClr val="F2F6FF"/>
                </a:solidFill>
              </a:rPr>
              <a:t>/</a:t>
            </a:r>
            <a:r>
              <a:rPr dirty="0" err="1">
                <a:solidFill>
                  <a:srgbClr val="F2F6FF"/>
                </a:solidFill>
              </a:rPr>
              <a:t>evaluasi</a:t>
            </a:r>
            <a:r>
              <a:rPr dirty="0">
                <a:solidFill>
                  <a:srgbClr val="F2F6FF"/>
                </a:solidFill>
              </a:rPr>
              <a:t> </a:t>
            </a:r>
            <a:r>
              <a:rPr dirty="0" err="1">
                <a:solidFill>
                  <a:srgbClr val="F2F6FF"/>
                </a:solidFill>
              </a:rPr>
              <a:t>terdokumentasi</a:t>
            </a:r>
            <a:r>
              <a:rPr dirty="0">
                <a:solidFill>
                  <a:srgbClr val="F2F6FF"/>
                </a:solidFill>
              </a:rPr>
              <a:t>.</a:t>
            </a:r>
          </a:p>
          <a:p>
            <a:pPr>
              <a:spcAft>
                <a:spcPts val="0"/>
              </a:spcAft>
              <a:defRPr sz="1500" b="0">
                <a:solidFill>
                  <a:srgbClr val="B8C8DE"/>
                </a:solidFill>
                <a:latin typeface="Aptos"/>
              </a:defRPr>
            </a:pPr>
            <a:endParaRPr dirty="0">
              <a:solidFill>
                <a:srgbClr val="F2F6FF"/>
              </a:solidFill>
            </a:endParaRPr>
          </a:p>
          <a:p>
            <a:pPr>
              <a:spcAft>
                <a:spcPts val="0"/>
              </a:spcAft>
              <a:defRPr sz="1500" b="0">
                <a:solidFill>
                  <a:srgbClr val="B8C8DE"/>
                </a:solidFill>
                <a:latin typeface="Aptos"/>
              </a:defRPr>
            </a:pPr>
            <a:endParaRPr dirty="0">
              <a:solidFill>
                <a:srgbClr val="F2F6FF"/>
              </a:solidFill>
            </a:endParaRPr>
          </a:p>
          <a:p>
            <a:pPr>
              <a:spcAft>
                <a:spcPts val="0"/>
              </a:spcAft>
              <a:defRPr sz="1500" b="0">
                <a:solidFill>
                  <a:srgbClr val="B8C8DE"/>
                </a:solidFill>
                <a:latin typeface="Aptos"/>
              </a:defRPr>
            </a:pPr>
            <a:endParaRPr dirty="0">
              <a:solidFill>
                <a:srgbClr val="F2F6FF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17920" y="2084831"/>
            <a:ext cx="5230368" cy="3337560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647688" y="2958085"/>
            <a:ext cx="50292" cy="301752"/>
          </a:xfrm>
          <a:prstGeom prst="rect">
            <a:avLst/>
          </a:prstGeom>
          <a:solidFill>
            <a:srgbClr val="EBC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12280" y="2939797"/>
            <a:ext cx="4663440" cy="39319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rPr sz="2000">
                <a:solidFill>
                  <a:srgbClr val="F2F6FF"/>
                </a:solidFill>
              </a:rPr>
              <a:t>Keterbatasan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506724"/>
            <a:ext cx="4727448" cy="248716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B8C8DE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CNN acuan dapat tertukar pada kelas pakaian mirip, seperti Pullover → Coat dan Shirt → Coat/T-shirt.
Metrik hanya indikator tidak langsung kualitas gambar.
Hasil berasal dari pelatihan 30 epoch yang terdokumentasi oleh tim.</a:t>
            </a:r>
          </a:p>
          <a:p>
            <a:pPr>
              <a:spcAft>
                <a:spcPts val="0"/>
              </a:spcAft>
              <a:defRPr sz="1500" b="0">
                <a:solidFill>
                  <a:srgbClr val="B8C8DE"/>
                </a:solidFill>
                <a:latin typeface="Aptos"/>
              </a:defRPr>
            </a:pPr>
            <a:endParaRPr>
              <a:solidFill>
                <a:srgbClr val="F2F6FF"/>
              </a:solidFill>
            </a:endParaRPr>
          </a:p>
          <a:p>
            <a:pPr>
              <a:spcAft>
                <a:spcPts val="0"/>
              </a:spcAft>
              <a:defRPr sz="1500" b="0">
                <a:solidFill>
                  <a:srgbClr val="B8C8DE"/>
                </a:solidFill>
                <a:latin typeface="Aptos"/>
              </a:defRPr>
            </a:pPr>
            <a:endParaRPr>
              <a:solidFill>
                <a:srgbClr val="F2F6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75488" y="320040"/>
            <a:ext cx="118872" cy="118872"/>
          </a:xfrm>
          <a:prstGeom prst="round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20040"/>
            <a:ext cx="8229600" cy="22860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55D8D7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A DAY IN ALI  /  AI GENERATIF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41248"/>
            <a:ext cx="10881360" cy="56692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Pelajaran dan Rencana Lanjutan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10744200" cy="420624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B8C8DE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Model dasar sudah tersedia dan dapat dikembangkan dengan eksperimen yang lebih terkontrol.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55080"/>
            <a:ext cx="10744200" cy="10972"/>
          </a:xfrm>
          <a:prstGeom prst="rect">
            <a:avLst/>
          </a:prstGeom>
          <a:solidFill>
            <a:srgbClr val="304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6419088"/>
            <a:ext cx="6400800" cy="21031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B8C8DE"/>
                </a:solidFill>
                <a:latin typeface="Aptos"/>
              </a:defRPr>
            </a:pPr>
            <a:r>
              <a:rPr sz="900">
                <a:solidFill>
                  <a:srgbClr val="BECCDF"/>
                </a:solidFill>
              </a:rPr>
              <a:t>TELKOM UNIVERSITY  •  PROYEK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6446520"/>
            <a:ext cx="713232" cy="228600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norm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B8C8DE"/>
                </a:solidFill>
                <a:latin typeface="Aptos"/>
              </a:defRPr>
            </a:pPr>
            <a:r>
              <a:rPr sz="900">
                <a:solidFill>
                  <a:srgbClr val="BECCDF"/>
                </a:solidFill>
              </a:rPr>
              <a:t>15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103120"/>
            <a:ext cx="5230368" cy="3246120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97280" y="3044954"/>
            <a:ext cx="50292" cy="301752"/>
          </a:xfrm>
          <a:prstGeom prst="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61872" y="3026666"/>
            <a:ext cx="4663440" cy="39319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rPr sz="2000" dirty="0">
                <a:solidFill>
                  <a:srgbClr val="F2F6FF"/>
                </a:solidFill>
              </a:rPr>
              <a:t>Yang </a:t>
            </a:r>
            <a:r>
              <a:rPr sz="2000" dirty="0" err="1">
                <a:solidFill>
                  <a:srgbClr val="F2F6FF"/>
                </a:solidFill>
              </a:rPr>
              <a:t>berhasil</a:t>
            </a:r>
            <a:endParaRPr sz="2000" dirty="0">
              <a:solidFill>
                <a:srgbClr val="F2F6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70432" y="3593593"/>
            <a:ext cx="4443984" cy="2395727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B8C8DE"/>
                </a:solidFill>
                <a:latin typeface="Aptos"/>
              </a:defRPr>
            </a:pPr>
            <a:r>
              <a:rPr dirty="0" err="1">
                <a:solidFill>
                  <a:srgbClr val="F2F6FF"/>
                </a:solidFill>
              </a:rPr>
              <a:t>Arsitektur</a:t>
            </a:r>
            <a:r>
              <a:rPr dirty="0">
                <a:solidFill>
                  <a:srgbClr val="F2F6FF"/>
                </a:solidFill>
              </a:rPr>
              <a:t> </a:t>
            </a:r>
            <a:r>
              <a:rPr dirty="0" err="1">
                <a:solidFill>
                  <a:srgbClr val="F2F6FF"/>
                </a:solidFill>
              </a:rPr>
              <a:t>ringan</a:t>
            </a:r>
            <a:r>
              <a:rPr dirty="0">
                <a:solidFill>
                  <a:srgbClr val="F2F6FF"/>
                </a:solidFill>
              </a:rPr>
              <a:t>, seed </a:t>
            </a:r>
            <a:r>
              <a:rPr dirty="0" err="1">
                <a:solidFill>
                  <a:srgbClr val="F2F6FF"/>
                </a:solidFill>
              </a:rPr>
              <a:t>tetap</a:t>
            </a:r>
            <a:r>
              <a:rPr dirty="0">
                <a:solidFill>
                  <a:srgbClr val="F2F6FF"/>
                </a:solidFill>
              </a:rPr>
              <a:t>, checkpoint, </a:t>
            </a:r>
            <a:r>
              <a:rPr dirty="0" err="1">
                <a:solidFill>
                  <a:srgbClr val="F2F6FF"/>
                </a:solidFill>
              </a:rPr>
              <a:t>pengujian</a:t>
            </a:r>
            <a:r>
              <a:rPr dirty="0">
                <a:solidFill>
                  <a:srgbClr val="F2F6FF"/>
                </a:solidFill>
              </a:rPr>
              <a:t>, dan prompt </a:t>
            </a:r>
            <a:r>
              <a:rPr dirty="0" err="1">
                <a:solidFill>
                  <a:srgbClr val="F2F6FF"/>
                </a:solidFill>
              </a:rPr>
              <a:t>terarah</a:t>
            </a:r>
            <a:r>
              <a:rPr dirty="0">
                <a:solidFill>
                  <a:srgbClr val="F2F6FF"/>
                </a:solidFill>
              </a:rPr>
              <a:t> </a:t>
            </a:r>
            <a:r>
              <a:rPr dirty="0" err="1">
                <a:solidFill>
                  <a:srgbClr val="F2F6FF"/>
                </a:solidFill>
              </a:rPr>
              <a:t>membantu</a:t>
            </a:r>
            <a:r>
              <a:rPr dirty="0">
                <a:solidFill>
                  <a:srgbClr val="F2F6FF"/>
                </a:solidFill>
              </a:rPr>
              <a:t> </a:t>
            </a:r>
            <a:r>
              <a:rPr dirty="0" err="1">
                <a:solidFill>
                  <a:srgbClr val="F2F6FF"/>
                </a:solidFill>
              </a:rPr>
              <a:t>menyelesaikan</a:t>
            </a:r>
            <a:r>
              <a:rPr dirty="0">
                <a:solidFill>
                  <a:srgbClr val="F2F6FF"/>
                </a:solidFill>
              </a:rPr>
              <a:t> </a:t>
            </a:r>
            <a:r>
              <a:rPr dirty="0" err="1">
                <a:solidFill>
                  <a:srgbClr val="F2F6FF"/>
                </a:solidFill>
              </a:rPr>
              <a:t>alur</a:t>
            </a:r>
            <a:r>
              <a:rPr dirty="0">
                <a:solidFill>
                  <a:srgbClr val="F2F6FF"/>
                </a:solidFill>
              </a:rPr>
              <a:t> </a:t>
            </a:r>
            <a:r>
              <a:rPr dirty="0" err="1">
                <a:solidFill>
                  <a:srgbClr val="F2F6FF"/>
                </a:solidFill>
              </a:rPr>
              <a:t>cGAN</a:t>
            </a:r>
            <a:r>
              <a:rPr dirty="0">
                <a:solidFill>
                  <a:srgbClr val="F2F6FF"/>
                </a:solidFill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03120"/>
            <a:ext cx="5230368" cy="3246120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65392" y="3044954"/>
            <a:ext cx="50292" cy="301752"/>
          </a:xfrm>
          <a:prstGeom prst="rect">
            <a:avLst/>
          </a:prstGeom>
          <a:solidFill>
            <a:srgbClr val="AD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29984" y="3026666"/>
            <a:ext cx="4663440" cy="39319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rPr sz="2000" dirty="0">
                <a:solidFill>
                  <a:srgbClr val="F2F6FF"/>
                </a:solidFill>
              </a:rPr>
              <a:t>Langkah </a:t>
            </a:r>
            <a:r>
              <a:rPr sz="2000" dirty="0" err="1">
                <a:solidFill>
                  <a:srgbClr val="F2F6FF"/>
                </a:solidFill>
              </a:rPr>
              <a:t>selanjutnya</a:t>
            </a:r>
            <a:endParaRPr sz="2000" dirty="0">
              <a:solidFill>
                <a:srgbClr val="F2F6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38544" y="3593593"/>
            <a:ext cx="4443984" cy="2395727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B8C8DE"/>
                </a:solidFill>
                <a:latin typeface="Aptos"/>
              </a:defRPr>
            </a:pPr>
            <a:r>
              <a:rPr dirty="0" err="1">
                <a:solidFill>
                  <a:srgbClr val="F2F6FF"/>
                </a:solidFill>
              </a:rPr>
              <a:t>Bandingkan</a:t>
            </a:r>
            <a:r>
              <a:rPr dirty="0">
                <a:solidFill>
                  <a:srgbClr val="F2F6FF"/>
                </a:solidFill>
              </a:rPr>
              <a:t> dua </a:t>
            </a:r>
            <a:r>
              <a:rPr dirty="0" err="1">
                <a:solidFill>
                  <a:srgbClr val="F2F6FF"/>
                </a:solidFill>
              </a:rPr>
              <a:t>variasi</a:t>
            </a:r>
            <a:r>
              <a:rPr dirty="0">
                <a:solidFill>
                  <a:srgbClr val="F2F6FF"/>
                </a:solidFill>
              </a:rPr>
              <a:t> </a:t>
            </a:r>
            <a:r>
              <a:rPr dirty="0" err="1">
                <a:solidFill>
                  <a:srgbClr val="F2F6FF"/>
                </a:solidFill>
              </a:rPr>
              <a:t>terkontrol</a:t>
            </a:r>
            <a:r>
              <a:rPr dirty="0">
                <a:solidFill>
                  <a:srgbClr val="F2F6FF"/>
                </a:solidFill>
              </a:rPr>
              <a:t>: </a:t>
            </a:r>
            <a:r>
              <a:rPr dirty="0" err="1">
                <a:solidFill>
                  <a:srgbClr val="F2F6FF"/>
                </a:solidFill>
              </a:rPr>
              <a:t>hilangkan</a:t>
            </a:r>
            <a:r>
              <a:rPr dirty="0">
                <a:solidFill>
                  <a:srgbClr val="F2F6FF"/>
                </a:solidFill>
              </a:rPr>
              <a:t> </a:t>
            </a:r>
            <a:r>
              <a:rPr dirty="0" err="1">
                <a:solidFill>
                  <a:srgbClr val="F2F6FF"/>
                </a:solidFill>
              </a:rPr>
              <a:t>BatchNorm</a:t>
            </a:r>
            <a:r>
              <a:rPr dirty="0">
                <a:solidFill>
                  <a:srgbClr val="F2F6FF"/>
                </a:solidFill>
              </a:rPr>
              <a:t> pada </a:t>
            </a:r>
            <a:r>
              <a:rPr dirty="0" err="1">
                <a:solidFill>
                  <a:srgbClr val="F2F6FF"/>
                </a:solidFill>
              </a:rPr>
              <a:t>konvolusi</a:t>
            </a:r>
            <a:r>
              <a:rPr dirty="0">
                <a:solidFill>
                  <a:srgbClr val="F2F6FF"/>
                </a:solidFill>
              </a:rPr>
              <a:t> </a:t>
            </a:r>
            <a:r>
              <a:rPr dirty="0" err="1">
                <a:solidFill>
                  <a:srgbClr val="F2F6FF"/>
                </a:solidFill>
              </a:rPr>
              <a:t>pertama</a:t>
            </a:r>
            <a:r>
              <a:rPr dirty="0">
                <a:solidFill>
                  <a:srgbClr val="F2F6FF"/>
                </a:solidFill>
              </a:rPr>
              <a:t> D, </a:t>
            </a:r>
            <a:r>
              <a:rPr dirty="0" err="1">
                <a:solidFill>
                  <a:srgbClr val="F2F6FF"/>
                </a:solidFill>
              </a:rPr>
              <a:t>atau</a:t>
            </a:r>
            <a:r>
              <a:rPr dirty="0">
                <a:solidFill>
                  <a:srgbClr val="F2F6FF"/>
                </a:solidFill>
              </a:rPr>
              <a:t> </a:t>
            </a:r>
            <a:r>
              <a:rPr dirty="0" err="1">
                <a:solidFill>
                  <a:srgbClr val="F2F6FF"/>
                </a:solidFill>
              </a:rPr>
              <a:t>turunkan</a:t>
            </a:r>
            <a:r>
              <a:rPr dirty="0">
                <a:solidFill>
                  <a:srgbClr val="F2F6FF"/>
                </a:solidFill>
              </a:rPr>
              <a:t> learning rate D </a:t>
            </a:r>
            <a:r>
              <a:rPr dirty="0" err="1">
                <a:solidFill>
                  <a:srgbClr val="F2F6FF"/>
                </a:solidFill>
              </a:rPr>
              <a:t>ke</a:t>
            </a:r>
            <a:r>
              <a:rPr dirty="0">
                <a:solidFill>
                  <a:srgbClr val="F2F6FF"/>
                </a:solidFill>
              </a:rPr>
              <a:t> 1e-4. </a:t>
            </a:r>
            <a:r>
              <a:rPr dirty="0" err="1">
                <a:solidFill>
                  <a:srgbClr val="F2F6FF"/>
                </a:solidFill>
              </a:rPr>
              <a:t>Evaluasi</a:t>
            </a:r>
            <a:r>
              <a:rPr dirty="0">
                <a:solidFill>
                  <a:srgbClr val="F2F6FF"/>
                </a:solidFill>
              </a:rPr>
              <a:t> </a:t>
            </a:r>
            <a:r>
              <a:rPr dirty="0" err="1">
                <a:solidFill>
                  <a:srgbClr val="F2F6FF"/>
                </a:solidFill>
              </a:rPr>
              <a:t>ulang</a:t>
            </a:r>
            <a:r>
              <a:rPr dirty="0">
                <a:solidFill>
                  <a:srgbClr val="F2F6FF"/>
                </a:solidFill>
              </a:rPr>
              <a:t> </a:t>
            </a:r>
            <a:r>
              <a:rPr dirty="0" err="1">
                <a:solidFill>
                  <a:srgbClr val="F2F6FF"/>
                </a:solidFill>
              </a:rPr>
              <a:t>kelas</a:t>
            </a:r>
            <a:r>
              <a:rPr dirty="0">
                <a:solidFill>
                  <a:srgbClr val="F2F6FF"/>
                </a:solidFill>
              </a:rPr>
              <a:t> Shirt/Pullover.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75488" y="320040"/>
            <a:ext cx="118872" cy="118872"/>
          </a:xfrm>
          <a:prstGeom prst="roundRect">
            <a:avLst/>
          </a:prstGeom>
          <a:solidFill>
            <a:srgbClr val="55D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20040"/>
            <a:ext cx="8229600" cy="22860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55D8D7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</a:rPr>
              <a:t>A DAY IN ALI  /  AI GENERATIF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094994"/>
            <a:ext cx="10881360" cy="56692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Autofit/>
          </a:bodyPr>
          <a:lstStyle/>
          <a:p>
            <a:pPr>
              <a:spcAft>
                <a:spcPts val="0"/>
              </a:spcAft>
            </a:pPr>
            <a:r>
              <a:rPr sz="6600" b="1" dirty="0" err="1">
                <a:solidFill>
                  <a:srgbClr val="F5F8FF"/>
                </a:solidFill>
                <a:latin typeface="Aptos"/>
              </a:rPr>
              <a:t>Terima</a:t>
            </a:r>
            <a:r>
              <a:rPr sz="6600" b="1" dirty="0">
                <a:solidFill>
                  <a:srgbClr val="F5F8FF"/>
                </a:solidFill>
                <a:latin typeface="Aptos"/>
              </a:rPr>
              <a:t> Kasih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" y="2103120"/>
            <a:ext cx="10744200" cy="420624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</a:pPr>
            <a:r>
              <a:rPr sz="2000" b="0" dirty="0">
                <a:solidFill>
                  <a:srgbClr val="F5F8FF"/>
                </a:solidFill>
                <a:latin typeface="Aptos"/>
              </a:rPr>
              <a:t>Sesi Tanya Jawab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55080"/>
            <a:ext cx="10744200" cy="10972"/>
          </a:xfrm>
          <a:prstGeom prst="rect">
            <a:avLst/>
          </a:prstGeom>
          <a:solidFill>
            <a:srgbClr val="304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6419088"/>
            <a:ext cx="6400800" cy="210312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B8C8DE"/>
                </a:solidFill>
                <a:latin typeface="Aptos"/>
              </a:defRPr>
            </a:pPr>
            <a:r>
              <a:rPr sz="900">
                <a:solidFill>
                  <a:srgbClr val="BECCDF"/>
                </a:solidFill>
              </a:rPr>
              <a:t>TELKOM UNIVERSITY  •  PROYEK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6446520"/>
            <a:ext cx="713232" cy="228600"/>
          </a:xfrm>
          <a:prstGeom prst="rect">
            <a:avLst/>
          </a:prstGeom>
          <a:noFill/>
        </p:spPr>
        <p:txBody>
          <a:bodyPr wrap="square" lIns="18288" tIns="13716" rIns="18288" bIns="13716" anchor="ctr">
            <a:norm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B8C8DE"/>
                </a:solidFill>
                <a:latin typeface="Aptos"/>
              </a:defRPr>
            </a:pPr>
            <a:r>
              <a:rPr sz="900">
                <a:solidFill>
                  <a:srgbClr val="BECCDF"/>
                </a:solidFill>
              </a:rPr>
              <a:t>16 /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0620" y="3717036"/>
            <a:ext cx="10515600" cy="914400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</a:pPr>
            <a:r>
              <a:rPr sz="3100" b="0" dirty="0">
                <a:solidFill>
                  <a:srgbClr val="F5F8FF"/>
                </a:solidFill>
                <a:latin typeface="Aptos"/>
              </a:rPr>
              <a:t>Kami </a:t>
            </a:r>
            <a:r>
              <a:rPr sz="3100" b="0" dirty="0" err="1">
                <a:solidFill>
                  <a:srgbClr val="F5F8FF"/>
                </a:solidFill>
                <a:latin typeface="Aptos"/>
              </a:rPr>
              <a:t>terbuka</a:t>
            </a:r>
            <a:r>
              <a:rPr sz="3100" b="0" dirty="0">
                <a:solidFill>
                  <a:srgbClr val="F5F8FF"/>
                </a:solidFill>
                <a:latin typeface="Aptos"/>
              </a:rPr>
              <a:t> </a:t>
            </a:r>
            <a:r>
              <a:rPr sz="3100" b="0" dirty="0" err="1">
                <a:solidFill>
                  <a:srgbClr val="F5F8FF"/>
                </a:solidFill>
                <a:latin typeface="Aptos"/>
              </a:rPr>
              <a:t>untuk</a:t>
            </a:r>
            <a:r>
              <a:rPr sz="3100" b="0" dirty="0">
                <a:solidFill>
                  <a:srgbClr val="F5F8FF"/>
                </a:solidFill>
                <a:latin typeface="Aptos"/>
              </a:rPr>
              <a:t> </a:t>
            </a:r>
            <a:r>
              <a:rPr sz="3100" b="0" dirty="0" err="1">
                <a:solidFill>
                  <a:srgbClr val="F5F8FF"/>
                </a:solidFill>
                <a:latin typeface="Aptos"/>
              </a:rPr>
              <a:t>pertanyaan</a:t>
            </a:r>
            <a:r>
              <a:rPr sz="3100" b="0" dirty="0">
                <a:solidFill>
                  <a:srgbClr val="F5F8FF"/>
                </a:solidFill>
                <a:latin typeface="Aptos"/>
              </a:rPr>
              <a:t>, </a:t>
            </a:r>
            <a:r>
              <a:rPr sz="3100" b="0" dirty="0" err="1">
                <a:solidFill>
                  <a:srgbClr val="F5F8FF"/>
                </a:solidFill>
                <a:latin typeface="Aptos"/>
              </a:rPr>
              <a:t>tanggapan</a:t>
            </a:r>
            <a:r>
              <a:rPr sz="3100" b="0" dirty="0">
                <a:solidFill>
                  <a:srgbClr val="F5F8FF"/>
                </a:solidFill>
                <a:latin typeface="Aptos"/>
              </a:rPr>
              <a:t>, dan </a:t>
            </a:r>
            <a:r>
              <a:rPr sz="3100" b="0" dirty="0" err="1">
                <a:solidFill>
                  <a:srgbClr val="F5F8FF"/>
                </a:solidFill>
                <a:latin typeface="Aptos"/>
              </a:rPr>
              <a:t>diskusi</a:t>
            </a:r>
            <a:r>
              <a:rPr sz="3100" b="0" dirty="0">
                <a:solidFill>
                  <a:srgbClr val="F5F8FF"/>
                </a:solidFill>
                <a:latin typeface="Aptos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4389120"/>
            <a:ext cx="10515600" cy="932688"/>
          </a:xfrm>
          <a:prstGeom prst="round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4690872"/>
            <a:ext cx="9966960" cy="338328"/>
          </a:xfrm>
          <a:prstGeom prst="rect">
            <a:avLst/>
          </a:prstGeom>
          <a:noFill/>
        </p:spPr>
        <p:txBody>
          <a:bodyPr wrap="square" lIns="18288" tIns="13716" rIns="18288" bIns="13716" anchor="t">
            <a:norm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55D8D7"/>
                </a:solidFill>
                <a:latin typeface="Aptos"/>
              </a:defRPr>
            </a:pPr>
            <a:r>
              <a:rPr>
                <a:solidFill>
                  <a:srgbClr val="F2F6FF"/>
                </a:solidFill>
                <a:hlinkClick r:id="rId2"/>
              </a:rPr>
              <a:t>Repositori: github.com/AI-IF-TelU/Proyek1-CGAN-ADayInAli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1514</Words>
  <Application>Microsoft Macintosh PowerPoint</Application>
  <PresentationFormat>Widescreen</PresentationFormat>
  <Paragraphs>223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Conditional GAN untuk Fashion-MNIST — A Day in Ali</dc:title>
  <dc:subject>Presentasi Proyek 1 AI Generatif</dc:subject>
  <dc:creator>Tim A Day in Ali</dc:creator>
  <cp:keywords/>
  <dc:description>generated using python-pptx</dc:description>
  <cp:lastModifiedBy>MALIKI KADAFA TSAQIF</cp:lastModifiedBy>
  <cp:revision>4</cp:revision>
  <dcterms:created xsi:type="dcterms:W3CDTF">2013-01-27T09:14:16Z</dcterms:created>
  <dcterms:modified xsi:type="dcterms:W3CDTF">2026-10-29T06:51:14Z</dcterms:modified>
  <cp:category/>
</cp:coreProperties>
</file>